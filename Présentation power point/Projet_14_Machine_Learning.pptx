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Norwester" charset="1" panose="00000506000000000000"/>
      <p:regular r:id="rId29"/>
    </p:embeddedFont>
    <p:embeddedFont>
      <p:font typeface="Inter Bold" charset="1" panose="020B0802030000000004"/>
      <p:regular r:id="rId30"/>
    </p:embeddedFont>
    <p:embeddedFont>
      <p:font typeface="Open Sans 1 Bold" charset="1" panose="00000000000000000000"/>
      <p:regular r:id="rId31"/>
    </p:embeddedFont>
    <p:embeddedFont>
      <p:font typeface="Open Sans 2 Bold" charset="1" panose="020B0806030504020204"/>
      <p:regular r:id="rId32"/>
    </p:embeddedFont>
    <p:embeddedFont>
      <p:font typeface="Inter" charset="1" panose="020B0502030000000004"/>
      <p:regular r:id="rId33"/>
    </p:embeddedFont>
    <p:embeddedFont>
      <p:font typeface="Canva Sans Bold" charset="1" panose="020B0803030501040103"/>
      <p:regular r:id="rId34"/>
    </p:embeddedFont>
    <p:embeddedFont>
      <p:font typeface="Telegraf Bold" charset="1" panose="00000800000000000000"/>
      <p:regular r:id="rId35"/>
    </p:embeddedFont>
    <p:embeddedFont>
      <p:font typeface="Telegraf" charset="1" panose="00000500000000000000"/>
      <p:regular r:id="rId36"/>
    </p:embeddedFont>
    <p:embeddedFont>
      <p:font typeface="Canva Sans Bold Italics" charset="1" panose="020B0803030501040103"/>
      <p:regular r:id="rId37"/>
    </p:embeddedFont>
    <p:embeddedFont>
      <p:font typeface="Garet Bold"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media/image33.png" Type="http://schemas.openxmlformats.org/officeDocument/2006/relationships/image"/><Relationship Id="rId6"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5495506" y="10263188"/>
            <a:ext cx="7232892" cy="0"/>
          </a:xfrm>
          <a:prstGeom prst="line">
            <a:avLst/>
          </a:prstGeom>
          <a:ln cap="flat" w="47625">
            <a:solidFill>
              <a:srgbClr val="004AAD"/>
            </a:solidFill>
            <a:prstDash val="solid"/>
            <a:headEnd type="none" len="sm" w="sm"/>
            <a:tailEnd type="none" len="sm" w="sm"/>
          </a:ln>
        </p:spPr>
      </p:sp>
      <p:sp>
        <p:nvSpPr>
          <p:cNvPr name="Freeform 3" id="3"/>
          <p:cNvSpPr/>
          <p:nvPr/>
        </p:nvSpPr>
        <p:spPr>
          <a:xfrm flipH="false" flipV="false" rot="0">
            <a:off x="5631096" y="2741910"/>
            <a:ext cx="7025807" cy="3976408"/>
          </a:xfrm>
          <a:custGeom>
            <a:avLst/>
            <a:gdLst/>
            <a:ahLst/>
            <a:cxnLst/>
            <a:rect r="r" b="b" t="t" l="l"/>
            <a:pathLst>
              <a:path h="3976408" w="7025807">
                <a:moveTo>
                  <a:pt x="0" y="0"/>
                </a:moveTo>
                <a:lnTo>
                  <a:pt x="7025808" y="0"/>
                </a:lnTo>
                <a:lnTo>
                  <a:pt x="7025808" y="3976408"/>
                </a:lnTo>
                <a:lnTo>
                  <a:pt x="0" y="3976408"/>
                </a:lnTo>
                <a:lnTo>
                  <a:pt x="0" y="0"/>
                </a:lnTo>
                <a:close/>
              </a:path>
            </a:pathLst>
          </a:custGeom>
          <a:blipFill>
            <a:blip r:embed="rId2"/>
            <a:stretch>
              <a:fillRect l="-11952" t="-8927" r="-9917" b="-21575"/>
            </a:stretch>
          </a:blipFill>
        </p:spPr>
      </p:sp>
      <p:sp>
        <p:nvSpPr>
          <p:cNvPr name="Freeform 4" id="4"/>
          <p:cNvSpPr/>
          <p:nvPr/>
        </p:nvSpPr>
        <p:spPr>
          <a:xfrm flipH="false" flipV="false" rot="0">
            <a:off x="13217132" y="6265633"/>
            <a:ext cx="5070868" cy="4021367"/>
          </a:xfrm>
          <a:custGeom>
            <a:avLst/>
            <a:gdLst/>
            <a:ahLst/>
            <a:cxnLst/>
            <a:rect r="r" b="b" t="t" l="l"/>
            <a:pathLst>
              <a:path h="4021367" w="5070868">
                <a:moveTo>
                  <a:pt x="0" y="0"/>
                </a:moveTo>
                <a:lnTo>
                  <a:pt x="5070868" y="0"/>
                </a:lnTo>
                <a:lnTo>
                  <a:pt x="5070868" y="4021367"/>
                </a:lnTo>
                <a:lnTo>
                  <a:pt x="0" y="4021367"/>
                </a:lnTo>
                <a:lnTo>
                  <a:pt x="0" y="0"/>
                </a:lnTo>
                <a:close/>
              </a:path>
            </a:pathLst>
          </a:custGeom>
          <a:blipFill>
            <a:blip r:embed="rId3"/>
            <a:stretch>
              <a:fillRect l="-8949" t="0" r="-10874" b="-3878"/>
            </a:stretch>
          </a:blipFill>
        </p:spPr>
      </p:sp>
      <p:sp>
        <p:nvSpPr>
          <p:cNvPr name="TextBox 5" id="5"/>
          <p:cNvSpPr txBox="true"/>
          <p:nvPr/>
        </p:nvSpPr>
        <p:spPr>
          <a:xfrm rot="0">
            <a:off x="796428" y="271326"/>
            <a:ext cx="16695143" cy="2130735"/>
          </a:xfrm>
          <a:prstGeom prst="rect">
            <a:avLst/>
          </a:prstGeom>
        </p:spPr>
        <p:txBody>
          <a:bodyPr anchor="t" rtlCol="false" tIns="0" lIns="0" bIns="0" rIns="0">
            <a:spAutoFit/>
          </a:bodyPr>
          <a:lstStyle/>
          <a:p>
            <a:pPr algn="ctr">
              <a:lnSpc>
                <a:spcPts val="8557"/>
              </a:lnSpc>
            </a:pPr>
            <a:r>
              <a:rPr lang="en-US" sz="6112" spc="-85">
                <a:solidFill>
                  <a:srgbClr val="004AAD"/>
                </a:solidFill>
                <a:latin typeface="Norwester"/>
                <a:ea typeface="Norwester"/>
                <a:cs typeface="Norwester"/>
                <a:sym typeface="Norwester"/>
              </a:rPr>
              <a:t>AUTOENCODEURS POUR LE CLUSTERING ET LA DETECTION D’ANOMALIES </a:t>
            </a:r>
          </a:p>
        </p:txBody>
      </p:sp>
      <p:sp>
        <p:nvSpPr>
          <p:cNvPr name="TextBox 6" id="6"/>
          <p:cNvSpPr txBox="true"/>
          <p:nvPr/>
        </p:nvSpPr>
        <p:spPr>
          <a:xfrm rot="0">
            <a:off x="796428" y="7502420"/>
            <a:ext cx="7217026" cy="2223516"/>
          </a:xfrm>
          <a:prstGeom prst="rect">
            <a:avLst/>
          </a:prstGeom>
        </p:spPr>
        <p:txBody>
          <a:bodyPr anchor="t" rtlCol="false" tIns="0" lIns="0" bIns="0" rIns="0">
            <a:spAutoFit/>
          </a:bodyPr>
          <a:lstStyle/>
          <a:p>
            <a:pPr algn="l">
              <a:lnSpc>
                <a:spcPts val="4451"/>
              </a:lnSpc>
            </a:pPr>
            <a:r>
              <a:rPr lang="en-US" b="true" sz="2799" spc="-19">
                <a:solidFill>
                  <a:srgbClr val="004AAD"/>
                </a:solidFill>
                <a:latin typeface="Inter Bold"/>
                <a:ea typeface="Inter Bold"/>
                <a:cs typeface="Inter Bold"/>
                <a:sym typeface="Inter Bold"/>
              </a:rPr>
              <a:t>Vi</a:t>
            </a:r>
            <a:r>
              <a:rPr lang="en-US" b="true" sz="2799" spc="-19">
                <a:solidFill>
                  <a:srgbClr val="004AAD"/>
                </a:solidFill>
                <a:latin typeface="Inter Bold"/>
                <a:ea typeface="Inter Bold"/>
                <a:cs typeface="Inter Bold"/>
                <a:sym typeface="Inter Bold"/>
              </a:rPr>
              <a:t>ncent MENDY</a:t>
            </a:r>
          </a:p>
          <a:p>
            <a:pPr algn="l">
              <a:lnSpc>
                <a:spcPts val="4451"/>
              </a:lnSpc>
            </a:pPr>
            <a:r>
              <a:rPr lang="en-US" b="true" sz="2799" spc="-19">
                <a:solidFill>
                  <a:srgbClr val="004AAD"/>
                </a:solidFill>
                <a:latin typeface="Inter Bold"/>
                <a:ea typeface="Inter Bold"/>
                <a:cs typeface="Inter Bold"/>
                <a:sym typeface="Inter Bold"/>
              </a:rPr>
              <a:t>Rosteim Falleiz BELEMCOABGA</a:t>
            </a:r>
          </a:p>
          <a:p>
            <a:pPr algn="l">
              <a:lnSpc>
                <a:spcPts val="4451"/>
              </a:lnSpc>
            </a:pPr>
            <a:r>
              <a:rPr lang="en-US" b="true" sz="2799" spc="-19">
                <a:solidFill>
                  <a:srgbClr val="004AAD"/>
                </a:solidFill>
                <a:latin typeface="Inter Bold"/>
                <a:ea typeface="Inter Bold"/>
                <a:cs typeface="Inter Bold"/>
                <a:sym typeface="Inter Bold"/>
              </a:rPr>
              <a:t>Abdoul-Nasser BARRY </a:t>
            </a:r>
          </a:p>
          <a:p>
            <a:pPr algn="l">
              <a:lnSpc>
                <a:spcPts val="4451"/>
              </a:lnSpc>
            </a:pPr>
            <a:r>
              <a:rPr lang="en-US" b="true" sz="2799" spc="-19">
                <a:solidFill>
                  <a:srgbClr val="004AAD"/>
                </a:solidFill>
                <a:latin typeface="Inter Bold"/>
                <a:ea typeface="Inter Bold"/>
                <a:cs typeface="Inter Bold"/>
                <a:sym typeface="Inter Bold"/>
              </a:rPr>
              <a:t>Pegdwendé  Anita Sylviane OUEDRAOGO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58238" y="2553338"/>
            <a:ext cx="745776" cy="745776"/>
            <a:chOff x="0" y="0"/>
            <a:chExt cx="270933" cy="270933"/>
          </a:xfrm>
        </p:grpSpPr>
        <p:sp>
          <p:nvSpPr>
            <p:cNvPr name="Freeform 3" id="3"/>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6496AC"/>
              </a:solidFill>
              <a:prstDash val="solid"/>
              <a:miter/>
            </a:ln>
          </p:spPr>
        </p:sp>
        <p:sp>
          <p:nvSpPr>
            <p:cNvPr name="TextBox 4" id="4"/>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057092" y="3917643"/>
            <a:ext cx="745776" cy="745776"/>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6496AC"/>
              </a:solidFill>
              <a:prstDash val="solid"/>
              <a:miter/>
            </a:ln>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061011" y="5291290"/>
            <a:ext cx="745776" cy="745776"/>
            <a:chOff x="0" y="0"/>
            <a:chExt cx="270933" cy="270933"/>
          </a:xfrm>
        </p:grpSpPr>
        <p:sp>
          <p:nvSpPr>
            <p:cNvPr name="Freeform 9" id="9"/>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6496AC"/>
              </a:solidFill>
              <a:prstDash val="solid"/>
              <a:miter/>
            </a:ln>
          </p:spPr>
        </p:sp>
        <p:sp>
          <p:nvSpPr>
            <p:cNvPr name="TextBox 10" id="10"/>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061011" y="6606955"/>
            <a:ext cx="745776" cy="745776"/>
            <a:chOff x="0" y="0"/>
            <a:chExt cx="270933" cy="270933"/>
          </a:xfrm>
        </p:grpSpPr>
        <p:sp>
          <p:nvSpPr>
            <p:cNvPr name="Freeform 12" id="12"/>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6496AC"/>
              </a:solidFill>
              <a:prstDash val="solid"/>
              <a:miter/>
            </a:ln>
          </p:spPr>
        </p:sp>
        <p:sp>
          <p:nvSpPr>
            <p:cNvPr name="TextBox 13" id="13"/>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8057092" y="7971856"/>
            <a:ext cx="745776" cy="745776"/>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6496AC"/>
              </a:solidFill>
              <a:prstDash val="solid"/>
              <a:miter/>
            </a:ln>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8061011" y="8964375"/>
            <a:ext cx="745776" cy="804561"/>
            <a:chOff x="0" y="0"/>
            <a:chExt cx="270933" cy="292289"/>
          </a:xfrm>
        </p:grpSpPr>
        <p:sp>
          <p:nvSpPr>
            <p:cNvPr name="Freeform 18" id="18"/>
            <p:cNvSpPr/>
            <p:nvPr/>
          </p:nvSpPr>
          <p:spPr>
            <a:xfrm flipH="false" flipV="false" rot="0">
              <a:off x="0" y="0"/>
              <a:ext cx="270933" cy="292289"/>
            </a:xfrm>
            <a:custGeom>
              <a:avLst/>
              <a:gdLst/>
              <a:ahLst/>
              <a:cxnLst/>
              <a:rect r="r" b="b" t="t" l="l"/>
              <a:pathLst>
                <a:path h="292289" w="270933">
                  <a:moveTo>
                    <a:pt x="0" y="0"/>
                  </a:moveTo>
                  <a:lnTo>
                    <a:pt x="270933" y="0"/>
                  </a:lnTo>
                  <a:lnTo>
                    <a:pt x="270933" y="292289"/>
                  </a:lnTo>
                  <a:lnTo>
                    <a:pt x="0" y="292289"/>
                  </a:lnTo>
                  <a:close/>
                </a:path>
              </a:pathLst>
            </a:custGeom>
            <a:solidFill>
              <a:srgbClr val="000000">
                <a:alpha val="0"/>
              </a:srgbClr>
            </a:solidFill>
            <a:ln w="9525" cap="sq">
              <a:solidFill>
                <a:srgbClr val="6496AC"/>
              </a:solidFill>
              <a:prstDash val="solid"/>
              <a:miter/>
            </a:ln>
          </p:spPr>
        </p:sp>
        <p:sp>
          <p:nvSpPr>
            <p:cNvPr name="TextBox 19" id="19"/>
            <p:cNvSpPr txBox="true"/>
            <p:nvPr/>
          </p:nvSpPr>
          <p:spPr>
            <a:xfrm>
              <a:off x="0" y="-38100"/>
              <a:ext cx="270933" cy="330389"/>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0" y="2485699"/>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2"/>
            <a:stretch>
              <a:fillRect l="0" t="0" r="0" b="0"/>
            </a:stretch>
          </a:blipFill>
        </p:spPr>
      </p:sp>
      <p:sp>
        <p:nvSpPr>
          <p:cNvPr name="TextBox 21" id="21"/>
          <p:cNvSpPr txBox="true"/>
          <p:nvPr/>
        </p:nvSpPr>
        <p:spPr>
          <a:xfrm rot="0">
            <a:off x="8018992" y="475827"/>
            <a:ext cx="4998503" cy="1220261"/>
          </a:xfrm>
          <a:prstGeom prst="rect">
            <a:avLst/>
          </a:prstGeom>
        </p:spPr>
        <p:txBody>
          <a:bodyPr anchor="t" rtlCol="false" tIns="0" lIns="0" bIns="0" rIns="0">
            <a:spAutoFit/>
          </a:bodyPr>
          <a:lstStyle/>
          <a:p>
            <a:pPr algn="l">
              <a:lnSpc>
                <a:spcPts val="9016"/>
              </a:lnSpc>
            </a:pPr>
            <a:r>
              <a:rPr lang="en-US" sz="9295" spc="-130">
                <a:solidFill>
                  <a:srgbClr val="004AAD"/>
                </a:solidFill>
                <a:latin typeface="Norwester"/>
                <a:ea typeface="Norwester"/>
                <a:cs typeface="Norwester"/>
                <a:sym typeface="Norwester"/>
              </a:rPr>
              <a:t>SOMMAIRE</a:t>
            </a:r>
          </a:p>
        </p:txBody>
      </p:sp>
      <p:sp>
        <p:nvSpPr>
          <p:cNvPr name="TextBox 22" id="22"/>
          <p:cNvSpPr txBox="true"/>
          <p:nvPr/>
        </p:nvSpPr>
        <p:spPr>
          <a:xfrm rot="0">
            <a:off x="8058238" y="2708762"/>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01</a:t>
            </a:r>
          </a:p>
        </p:txBody>
      </p:sp>
      <p:sp>
        <p:nvSpPr>
          <p:cNvPr name="TextBox 23" id="23"/>
          <p:cNvSpPr txBox="true"/>
          <p:nvPr/>
        </p:nvSpPr>
        <p:spPr>
          <a:xfrm rot="0">
            <a:off x="8057092" y="4073067"/>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02</a:t>
            </a:r>
          </a:p>
        </p:txBody>
      </p:sp>
      <p:sp>
        <p:nvSpPr>
          <p:cNvPr name="TextBox 24" id="24"/>
          <p:cNvSpPr txBox="true"/>
          <p:nvPr/>
        </p:nvSpPr>
        <p:spPr>
          <a:xfrm rot="0">
            <a:off x="9145640" y="4021291"/>
            <a:ext cx="8435169" cy="481330"/>
          </a:xfrm>
          <a:prstGeom prst="rect">
            <a:avLst/>
          </a:prstGeom>
        </p:spPr>
        <p:txBody>
          <a:bodyPr anchor="t" rtlCol="false" tIns="0" lIns="0" bIns="0" rIns="0">
            <a:spAutoFit/>
          </a:bodyPr>
          <a:lstStyle/>
          <a:p>
            <a:pPr algn="l">
              <a:lnSpc>
                <a:spcPts val="3919"/>
              </a:lnSpc>
              <a:spcBef>
                <a:spcPct val="0"/>
              </a:spcBef>
            </a:pPr>
            <a:r>
              <a:rPr lang="en-US" b="true" sz="2799">
                <a:solidFill>
                  <a:srgbClr val="1F2020"/>
                </a:solidFill>
                <a:latin typeface="Open Sans 1 Bold"/>
                <a:ea typeface="Open Sans 1 Bold"/>
                <a:cs typeface="Open Sans 1 Bold"/>
                <a:sym typeface="Open Sans 1 Bold"/>
              </a:rPr>
              <a:t>INTRODUCTION</a:t>
            </a:r>
          </a:p>
        </p:txBody>
      </p:sp>
      <p:sp>
        <p:nvSpPr>
          <p:cNvPr name="TextBox 25" id="25"/>
          <p:cNvSpPr txBox="true"/>
          <p:nvPr/>
        </p:nvSpPr>
        <p:spPr>
          <a:xfrm rot="0">
            <a:off x="8061011" y="5434944"/>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03</a:t>
            </a:r>
          </a:p>
        </p:txBody>
      </p:sp>
      <p:sp>
        <p:nvSpPr>
          <p:cNvPr name="TextBox 26" id="26"/>
          <p:cNvSpPr txBox="true"/>
          <p:nvPr/>
        </p:nvSpPr>
        <p:spPr>
          <a:xfrm rot="0">
            <a:off x="8061011" y="6818116"/>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04</a:t>
            </a:r>
          </a:p>
        </p:txBody>
      </p:sp>
      <p:sp>
        <p:nvSpPr>
          <p:cNvPr name="TextBox 27" id="27"/>
          <p:cNvSpPr txBox="true"/>
          <p:nvPr/>
        </p:nvSpPr>
        <p:spPr>
          <a:xfrm rot="0">
            <a:off x="9145640" y="2591677"/>
            <a:ext cx="3365182"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Open Sans 2 Bold"/>
                <a:ea typeface="Open Sans 2 Bold"/>
                <a:cs typeface="Open Sans 2 Bold"/>
                <a:sym typeface="Open Sans 2 Bold"/>
              </a:rPr>
              <a:t>CONTEXT GENERAL</a:t>
            </a:r>
          </a:p>
        </p:txBody>
      </p:sp>
      <p:sp>
        <p:nvSpPr>
          <p:cNvPr name="TextBox 28" id="28"/>
          <p:cNvSpPr txBox="true"/>
          <p:nvPr/>
        </p:nvSpPr>
        <p:spPr>
          <a:xfrm rot="0">
            <a:off x="9060261" y="5337789"/>
            <a:ext cx="6901121" cy="481329"/>
          </a:xfrm>
          <a:prstGeom prst="rect">
            <a:avLst/>
          </a:prstGeom>
        </p:spPr>
        <p:txBody>
          <a:bodyPr anchor="t" rtlCol="false" tIns="0" lIns="0" bIns="0" rIns="0">
            <a:spAutoFit/>
          </a:bodyPr>
          <a:lstStyle/>
          <a:p>
            <a:pPr algn="l">
              <a:lnSpc>
                <a:spcPts val="3920"/>
              </a:lnSpc>
            </a:pPr>
            <a:r>
              <a:rPr lang="en-US" sz="2800" b="true">
                <a:solidFill>
                  <a:srgbClr val="000000"/>
                </a:solidFill>
                <a:latin typeface="Open Sans 2 Bold"/>
                <a:ea typeface="Open Sans 2 Bold"/>
                <a:cs typeface="Open Sans 2 Bold"/>
                <a:sym typeface="Open Sans 2 Bold"/>
              </a:rPr>
              <a:t> FONDEMENT THEORIQUE</a:t>
            </a:r>
          </a:p>
        </p:txBody>
      </p:sp>
      <p:sp>
        <p:nvSpPr>
          <p:cNvPr name="TextBox 29" id="29"/>
          <p:cNvSpPr txBox="true"/>
          <p:nvPr/>
        </p:nvSpPr>
        <p:spPr>
          <a:xfrm rot="0">
            <a:off x="9060261" y="6695417"/>
            <a:ext cx="2995523" cy="481329"/>
          </a:xfrm>
          <a:prstGeom prst="rect">
            <a:avLst/>
          </a:prstGeom>
        </p:spPr>
        <p:txBody>
          <a:bodyPr anchor="t" rtlCol="false" tIns="0" lIns="0" bIns="0" rIns="0">
            <a:spAutoFit/>
          </a:bodyPr>
          <a:lstStyle/>
          <a:p>
            <a:pPr algn="ctr">
              <a:lnSpc>
                <a:spcPts val="3920"/>
              </a:lnSpc>
            </a:pPr>
            <a:r>
              <a:rPr lang="en-US" sz="2800" b="true">
                <a:solidFill>
                  <a:srgbClr val="000000"/>
                </a:solidFill>
                <a:latin typeface="Open Sans 2 Bold"/>
                <a:ea typeface="Open Sans 2 Bold"/>
                <a:cs typeface="Open Sans 2 Bold"/>
                <a:sym typeface="Open Sans 2 Bold"/>
              </a:rPr>
              <a:t>METHODOLOGY</a:t>
            </a:r>
          </a:p>
        </p:txBody>
      </p:sp>
      <p:sp>
        <p:nvSpPr>
          <p:cNvPr name="TextBox 30" id="30"/>
          <p:cNvSpPr txBox="true"/>
          <p:nvPr/>
        </p:nvSpPr>
        <p:spPr>
          <a:xfrm rot="0">
            <a:off x="8061011" y="8133781"/>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05</a:t>
            </a:r>
          </a:p>
        </p:txBody>
      </p:sp>
      <p:sp>
        <p:nvSpPr>
          <p:cNvPr name="TextBox 31" id="31"/>
          <p:cNvSpPr txBox="true"/>
          <p:nvPr/>
        </p:nvSpPr>
        <p:spPr>
          <a:xfrm rot="0">
            <a:off x="9101820" y="8014946"/>
            <a:ext cx="5907930" cy="489278"/>
          </a:xfrm>
          <a:prstGeom prst="rect">
            <a:avLst/>
          </a:prstGeom>
        </p:spPr>
        <p:txBody>
          <a:bodyPr anchor="t" rtlCol="false" tIns="0" lIns="0" bIns="0" rIns="0">
            <a:spAutoFit/>
          </a:bodyPr>
          <a:lstStyle/>
          <a:p>
            <a:pPr algn="ctr">
              <a:lnSpc>
                <a:spcPts val="4006"/>
              </a:lnSpc>
            </a:pPr>
            <a:r>
              <a:rPr lang="en-US" sz="2862" b="true">
                <a:solidFill>
                  <a:srgbClr val="000000"/>
                </a:solidFill>
                <a:latin typeface="Open Sans 2 Bold"/>
                <a:ea typeface="Open Sans 2 Bold"/>
                <a:cs typeface="Open Sans 2 Bold"/>
                <a:sym typeface="Open Sans 2 Bold"/>
              </a:rPr>
              <a:t>MODELISATION ET APPLICATION</a:t>
            </a:r>
          </a:p>
        </p:txBody>
      </p:sp>
      <p:sp>
        <p:nvSpPr>
          <p:cNvPr name="TextBox 32" id="32"/>
          <p:cNvSpPr txBox="true"/>
          <p:nvPr/>
        </p:nvSpPr>
        <p:spPr>
          <a:xfrm rot="0">
            <a:off x="8061011" y="9119799"/>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1 Bold"/>
                <a:ea typeface="Open Sans 1 Bold"/>
                <a:cs typeface="Open Sans 1 Bold"/>
                <a:sym typeface="Open Sans 1 Bold"/>
              </a:rPr>
              <a:t>06</a:t>
            </a:r>
          </a:p>
        </p:txBody>
      </p:sp>
      <p:sp>
        <p:nvSpPr>
          <p:cNvPr name="TextBox 33" id="33"/>
          <p:cNvSpPr txBox="true"/>
          <p:nvPr/>
        </p:nvSpPr>
        <p:spPr>
          <a:xfrm rot="0">
            <a:off x="9145640" y="9056108"/>
            <a:ext cx="2498402" cy="489278"/>
          </a:xfrm>
          <a:prstGeom prst="rect">
            <a:avLst/>
          </a:prstGeom>
        </p:spPr>
        <p:txBody>
          <a:bodyPr anchor="t" rtlCol="false" tIns="0" lIns="0" bIns="0" rIns="0">
            <a:spAutoFit/>
          </a:bodyPr>
          <a:lstStyle/>
          <a:p>
            <a:pPr algn="ctr">
              <a:lnSpc>
                <a:spcPts val="4006"/>
              </a:lnSpc>
            </a:pPr>
            <a:r>
              <a:rPr lang="en-US" sz="2862" b="true">
                <a:solidFill>
                  <a:srgbClr val="000000"/>
                </a:solidFill>
                <a:latin typeface="Open Sans 2 Bold"/>
                <a:ea typeface="Open Sans 2 Bold"/>
                <a:cs typeface="Open Sans 2 Bold"/>
                <a:sym typeface="Open Sans 2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822415" y="758187"/>
            <a:ext cx="8643170" cy="1220261"/>
          </a:xfrm>
          <a:prstGeom prst="rect">
            <a:avLst/>
          </a:prstGeom>
        </p:spPr>
        <p:txBody>
          <a:bodyPr anchor="t" rtlCol="false" tIns="0" lIns="0" bIns="0" rIns="0">
            <a:spAutoFit/>
          </a:bodyPr>
          <a:lstStyle/>
          <a:p>
            <a:pPr algn="l">
              <a:lnSpc>
                <a:spcPts val="9016"/>
              </a:lnSpc>
            </a:pPr>
            <a:r>
              <a:rPr lang="en-US" sz="9295" spc="-130">
                <a:solidFill>
                  <a:srgbClr val="004AAD"/>
                </a:solidFill>
                <a:latin typeface="Norwester"/>
                <a:ea typeface="Norwester"/>
                <a:cs typeface="Norwester"/>
                <a:sym typeface="Norwester"/>
              </a:rPr>
              <a:t>CONTEXT GENERAL</a:t>
            </a:r>
          </a:p>
        </p:txBody>
      </p:sp>
      <p:sp>
        <p:nvSpPr>
          <p:cNvPr name="TextBox 3" id="3"/>
          <p:cNvSpPr txBox="true"/>
          <p:nvPr/>
        </p:nvSpPr>
        <p:spPr>
          <a:xfrm rot="0">
            <a:off x="1527758" y="2866243"/>
            <a:ext cx="15270585" cy="3837179"/>
          </a:xfrm>
          <a:prstGeom prst="rect">
            <a:avLst/>
          </a:prstGeom>
        </p:spPr>
        <p:txBody>
          <a:bodyPr anchor="t" rtlCol="false" tIns="0" lIns="0" bIns="0" rIns="0">
            <a:spAutoFit/>
          </a:bodyPr>
          <a:lstStyle/>
          <a:p>
            <a:pPr algn="just">
              <a:lnSpc>
                <a:spcPts val="6175"/>
              </a:lnSpc>
            </a:pPr>
            <a:r>
              <a:rPr lang="en-US" sz="3199" spc="-22">
                <a:solidFill>
                  <a:srgbClr val="000000"/>
                </a:solidFill>
                <a:latin typeface="Inter"/>
                <a:ea typeface="Inter"/>
                <a:cs typeface="Inter"/>
                <a:sym typeface="Inter"/>
              </a:rPr>
              <a:t>L’objectif est de mettre en œuvre et comparer différentes approches de détection d’anomalies dans un contexte industriel de maintenance prédictive, en s’appuyant principalement sur les autoencodeurs (réseaux de neurones non supervisés) pour l’apprentissage des comportements normaux et la détection des déviations anormales.</a:t>
            </a:r>
          </a:p>
        </p:txBody>
      </p:sp>
      <p:sp>
        <p:nvSpPr>
          <p:cNvPr name="Freeform 4" id="4"/>
          <p:cNvSpPr/>
          <p:nvPr/>
        </p:nvSpPr>
        <p:spPr>
          <a:xfrm flipH="false" flipV="false" rot="-8410460">
            <a:off x="-7478500" y="-4429677"/>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339478" y="5373717"/>
            <a:ext cx="9762021" cy="4091438"/>
          </a:xfrm>
          <a:custGeom>
            <a:avLst/>
            <a:gdLst/>
            <a:ahLst/>
            <a:cxnLst/>
            <a:rect r="r" b="b" t="t" l="l"/>
            <a:pathLst>
              <a:path h="4091438" w="9762021">
                <a:moveTo>
                  <a:pt x="0" y="0"/>
                </a:moveTo>
                <a:lnTo>
                  <a:pt x="9762020" y="0"/>
                </a:lnTo>
                <a:lnTo>
                  <a:pt x="9762020" y="4091438"/>
                </a:lnTo>
                <a:lnTo>
                  <a:pt x="0" y="4091438"/>
                </a:lnTo>
                <a:lnTo>
                  <a:pt x="0" y="0"/>
                </a:lnTo>
                <a:close/>
              </a:path>
            </a:pathLst>
          </a:custGeom>
          <a:blipFill>
            <a:blip r:embed="rId2"/>
            <a:stretch>
              <a:fillRect l="0" t="-34295" r="0" b="0"/>
            </a:stretch>
          </a:blipFill>
        </p:spPr>
      </p:sp>
      <p:sp>
        <p:nvSpPr>
          <p:cNvPr name="Freeform 6" id="6"/>
          <p:cNvSpPr/>
          <p:nvPr/>
        </p:nvSpPr>
        <p:spPr>
          <a:xfrm flipH="false" flipV="false" rot="0">
            <a:off x="12056140" y="5643197"/>
            <a:ext cx="5203160" cy="3821958"/>
          </a:xfrm>
          <a:custGeom>
            <a:avLst/>
            <a:gdLst/>
            <a:ahLst/>
            <a:cxnLst/>
            <a:rect r="r" b="b" t="t" l="l"/>
            <a:pathLst>
              <a:path h="3821958" w="5203160">
                <a:moveTo>
                  <a:pt x="0" y="0"/>
                </a:moveTo>
                <a:lnTo>
                  <a:pt x="5203160" y="0"/>
                </a:lnTo>
                <a:lnTo>
                  <a:pt x="5203160" y="3821958"/>
                </a:lnTo>
                <a:lnTo>
                  <a:pt x="0" y="3821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5991888" y="513819"/>
            <a:ext cx="6304224" cy="1220261"/>
          </a:xfrm>
          <a:prstGeom prst="rect">
            <a:avLst/>
          </a:prstGeom>
        </p:spPr>
        <p:txBody>
          <a:bodyPr anchor="t" rtlCol="false" tIns="0" lIns="0" bIns="0" rIns="0">
            <a:spAutoFit/>
          </a:bodyPr>
          <a:lstStyle/>
          <a:p>
            <a:pPr algn="l">
              <a:lnSpc>
                <a:spcPts val="9016"/>
              </a:lnSpc>
            </a:pPr>
            <a:r>
              <a:rPr lang="en-US" sz="9295" spc="-130">
                <a:solidFill>
                  <a:srgbClr val="004AAD"/>
                </a:solidFill>
                <a:latin typeface="Norwester"/>
                <a:ea typeface="Norwester"/>
                <a:cs typeface="Norwester"/>
                <a:sym typeface="Norwester"/>
              </a:rPr>
              <a:t>INTRODUCTION</a:t>
            </a:r>
          </a:p>
        </p:txBody>
      </p:sp>
      <p:sp>
        <p:nvSpPr>
          <p:cNvPr name="TextBox 8" id="8"/>
          <p:cNvSpPr txBox="true"/>
          <p:nvPr/>
        </p:nvSpPr>
        <p:spPr>
          <a:xfrm rot="0">
            <a:off x="1028700" y="2487628"/>
            <a:ext cx="16230600" cy="2164970"/>
          </a:xfrm>
          <a:prstGeom prst="rect">
            <a:avLst/>
          </a:prstGeom>
        </p:spPr>
        <p:txBody>
          <a:bodyPr anchor="t" rtlCol="false" tIns="0" lIns="0" bIns="0" rIns="0">
            <a:spAutoFit/>
          </a:bodyPr>
          <a:lstStyle/>
          <a:p>
            <a:pPr algn="just">
              <a:lnSpc>
                <a:spcPts val="5857"/>
              </a:lnSpc>
            </a:pPr>
            <a:r>
              <a:rPr lang="en-US" b="true" sz="2899" spc="-20">
                <a:solidFill>
                  <a:srgbClr val="004AAD"/>
                </a:solidFill>
                <a:latin typeface="Inter Bold"/>
                <a:ea typeface="Inter Bold"/>
                <a:cs typeface="Inter Bold"/>
                <a:sym typeface="Inter Bold"/>
              </a:rPr>
              <a:t>La maintenance prédictive analyse les données des capteurs pour anticiper les pannes. Pour cela, les autoencodeurs apprennent le comportement normal des machines et permettent, via le clustering, d’identifier les états normal, dégradé ou en panne.</a:t>
            </a:r>
          </a:p>
        </p:txBody>
      </p:sp>
      <p:sp>
        <p:nvSpPr>
          <p:cNvPr name="Freeform 9" id="9"/>
          <p:cNvSpPr/>
          <p:nvPr/>
        </p:nvSpPr>
        <p:spPr>
          <a:xfrm flipH="false" flipV="false" rot="-8410460">
            <a:off x="-7858872" y="-5030701"/>
            <a:ext cx="11976399" cy="7170869"/>
          </a:xfrm>
          <a:custGeom>
            <a:avLst/>
            <a:gdLst/>
            <a:ahLst/>
            <a:cxnLst/>
            <a:rect r="r" b="b" t="t" l="l"/>
            <a:pathLst>
              <a:path h="7170869" w="11976399">
                <a:moveTo>
                  <a:pt x="0" y="0"/>
                </a:moveTo>
                <a:lnTo>
                  <a:pt x="11976398" y="0"/>
                </a:lnTo>
                <a:lnTo>
                  <a:pt x="11976398" y="7170869"/>
                </a:lnTo>
                <a:lnTo>
                  <a:pt x="0" y="7170869"/>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23823" y="4514341"/>
            <a:ext cx="9433270" cy="4716635"/>
          </a:xfrm>
          <a:custGeom>
            <a:avLst/>
            <a:gdLst/>
            <a:ahLst/>
            <a:cxnLst/>
            <a:rect r="r" b="b" t="t" l="l"/>
            <a:pathLst>
              <a:path h="4716635" w="9433270">
                <a:moveTo>
                  <a:pt x="0" y="0"/>
                </a:moveTo>
                <a:lnTo>
                  <a:pt x="9433270" y="0"/>
                </a:lnTo>
                <a:lnTo>
                  <a:pt x="9433270" y="4716635"/>
                </a:lnTo>
                <a:lnTo>
                  <a:pt x="0" y="4716635"/>
                </a:lnTo>
                <a:lnTo>
                  <a:pt x="0" y="0"/>
                </a:lnTo>
                <a:close/>
              </a:path>
            </a:pathLst>
          </a:custGeom>
          <a:blipFill>
            <a:blip r:embed="rId2"/>
            <a:stretch>
              <a:fillRect l="0" t="0" r="0" b="0"/>
            </a:stretch>
          </a:blipFill>
        </p:spPr>
      </p:sp>
      <p:sp>
        <p:nvSpPr>
          <p:cNvPr name="TextBox 6" id="6"/>
          <p:cNvSpPr txBox="true"/>
          <p:nvPr/>
        </p:nvSpPr>
        <p:spPr>
          <a:xfrm rot="0">
            <a:off x="2882863" y="511873"/>
            <a:ext cx="12522274" cy="1224153"/>
          </a:xfrm>
          <a:prstGeom prst="rect">
            <a:avLst/>
          </a:prstGeom>
        </p:spPr>
        <p:txBody>
          <a:bodyPr anchor="t" rtlCol="false" tIns="0" lIns="0" bIns="0" rIns="0">
            <a:spAutoFit/>
          </a:bodyPr>
          <a:lstStyle/>
          <a:p>
            <a:pPr algn="ctr">
              <a:lnSpc>
                <a:spcPts val="9021"/>
              </a:lnSpc>
            </a:pPr>
            <a:r>
              <a:rPr lang="en-US" sz="9300" spc="-130">
                <a:solidFill>
                  <a:srgbClr val="004AAD"/>
                </a:solidFill>
                <a:latin typeface="Norwester"/>
                <a:ea typeface="Norwester"/>
                <a:cs typeface="Norwester"/>
                <a:sym typeface="Norwester"/>
              </a:rPr>
              <a:t>FONDEMENTS THEORIQUES</a:t>
            </a:r>
          </a:p>
        </p:txBody>
      </p:sp>
      <p:sp>
        <p:nvSpPr>
          <p:cNvPr name="TextBox 7" id="7"/>
          <p:cNvSpPr txBox="true"/>
          <p:nvPr/>
        </p:nvSpPr>
        <p:spPr>
          <a:xfrm rot="0">
            <a:off x="12286811" y="3086127"/>
            <a:ext cx="3118326" cy="863600"/>
          </a:xfrm>
          <a:prstGeom prst="rect">
            <a:avLst/>
          </a:prstGeom>
        </p:spPr>
        <p:txBody>
          <a:bodyPr anchor="t" rtlCol="false" tIns="0" lIns="0" bIns="0" rIns="0">
            <a:spAutoFit/>
          </a:bodyPr>
          <a:lstStyle/>
          <a:p>
            <a:pPr algn="ctr">
              <a:lnSpc>
                <a:spcPts val="7000"/>
              </a:lnSpc>
            </a:pPr>
            <a:r>
              <a:rPr lang="en-US" b="true" sz="5000">
                <a:solidFill>
                  <a:srgbClr val="FF751F"/>
                </a:solidFill>
                <a:latin typeface="Canva Sans Bold"/>
                <a:ea typeface="Canva Sans Bold"/>
                <a:cs typeface="Canva Sans Bold"/>
                <a:sym typeface="Canva Sans Bold"/>
              </a:rPr>
              <a:t>ENCODER</a:t>
            </a:r>
          </a:p>
        </p:txBody>
      </p:sp>
      <p:sp>
        <p:nvSpPr>
          <p:cNvPr name="TextBox 8" id="8"/>
          <p:cNvSpPr txBox="true"/>
          <p:nvPr/>
        </p:nvSpPr>
        <p:spPr>
          <a:xfrm rot="0">
            <a:off x="10089839" y="4334617"/>
            <a:ext cx="7169461" cy="4896359"/>
          </a:xfrm>
          <a:prstGeom prst="rect">
            <a:avLst/>
          </a:prstGeom>
        </p:spPr>
        <p:txBody>
          <a:bodyPr anchor="t" rtlCol="false" tIns="0" lIns="0" bIns="0" rIns="0">
            <a:spAutoFit/>
          </a:bodyPr>
          <a:lstStyle/>
          <a:p>
            <a:pPr algn="just">
              <a:lnSpc>
                <a:spcPts val="5575"/>
              </a:lnSpc>
            </a:pPr>
            <a:r>
              <a:rPr lang="en-US" sz="3399" spc="-23">
                <a:solidFill>
                  <a:srgbClr val="000000"/>
                </a:solidFill>
                <a:latin typeface="Inter"/>
                <a:ea typeface="Inter"/>
                <a:cs typeface="Inter"/>
                <a:sym typeface="Inter"/>
              </a:rPr>
              <a:t>L’</a:t>
            </a:r>
            <a:r>
              <a:rPr lang="en-US" sz="3399" spc="-23">
                <a:solidFill>
                  <a:srgbClr val="000000"/>
                </a:solidFill>
                <a:latin typeface="Inter"/>
                <a:ea typeface="Inter"/>
                <a:cs typeface="Inter"/>
                <a:sym typeface="Inter"/>
              </a:rPr>
              <a:t>encodeur est la partie d’un réseau de neurones non supervisé qui apprend à projeter les données d’entrée dans un espace latent de faible dimension, en capturant leurs caractéristiques essentielles et leur structure interne.</a:t>
            </a:r>
          </a:p>
        </p:txBody>
      </p:sp>
      <p:sp>
        <p:nvSpPr>
          <p:cNvPr name="Freeform 9" id="9"/>
          <p:cNvSpPr/>
          <p:nvPr/>
        </p:nvSpPr>
        <p:spPr>
          <a:xfrm flipH="false" flipV="false" rot="-8410460">
            <a:off x="-7642964" y="-3315204"/>
            <a:ext cx="11976399" cy="7170869"/>
          </a:xfrm>
          <a:custGeom>
            <a:avLst/>
            <a:gdLst/>
            <a:ahLst/>
            <a:cxnLst/>
            <a:rect r="r" b="b" t="t" l="l"/>
            <a:pathLst>
              <a:path h="7170869" w="11976399">
                <a:moveTo>
                  <a:pt x="0" y="0"/>
                </a:moveTo>
                <a:lnTo>
                  <a:pt x="11976399" y="0"/>
                </a:lnTo>
                <a:lnTo>
                  <a:pt x="11976399" y="7170869"/>
                </a:lnTo>
                <a:lnTo>
                  <a:pt x="0" y="7170869"/>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4574512"/>
            <a:ext cx="7418404" cy="4231161"/>
          </a:xfrm>
          <a:custGeom>
            <a:avLst/>
            <a:gdLst/>
            <a:ahLst/>
            <a:cxnLst/>
            <a:rect r="r" b="b" t="t" l="l"/>
            <a:pathLst>
              <a:path h="4231161" w="7418404">
                <a:moveTo>
                  <a:pt x="0" y="0"/>
                </a:moveTo>
                <a:lnTo>
                  <a:pt x="7418404" y="0"/>
                </a:lnTo>
                <a:lnTo>
                  <a:pt x="7418404" y="4231161"/>
                </a:lnTo>
                <a:lnTo>
                  <a:pt x="0" y="4231161"/>
                </a:lnTo>
                <a:lnTo>
                  <a:pt x="0" y="0"/>
                </a:lnTo>
                <a:close/>
              </a:path>
            </a:pathLst>
          </a:custGeom>
          <a:blipFill>
            <a:blip r:embed="rId2"/>
            <a:stretch>
              <a:fillRect l="-37992" t="0" r="-26139" b="0"/>
            </a:stretch>
          </a:blipFill>
        </p:spPr>
      </p:sp>
      <p:sp>
        <p:nvSpPr>
          <p:cNvPr name="TextBox 6" id="6"/>
          <p:cNvSpPr txBox="true"/>
          <p:nvPr/>
        </p:nvSpPr>
        <p:spPr>
          <a:xfrm rot="0">
            <a:off x="2882863" y="965699"/>
            <a:ext cx="12522274" cy="1224153"/>
          </a:xfrm>
          <a:prstGeom prst="rect">
            <a:avLst/>
          </a:prstGeom>
        </p:spPr>
        <p:txBody>
          <a:bodyPr anchor="t" rtlCol="false" tIns="0" lIns="0" bIns="0" rIns="0">
            <a:spAutoFit/>
          </a:bodyPr>
          <a:lstStyle/>
          <a:p>
            <a:pPr algn="ctr">
              <a:lnSpc>
                <a:spcPts val="9021"/>
              </a:lnSpc>
            </a:pPr>
            <a:r>
              <a:rPr lang="en-US" sz="9300" spc="-130">
                <a:solidFill>
                  <a:srgbClr val="004AAD"/>
                </a:solidFill>
                <a:latin typeface="Norwester"/>
                <a:ea typeface="Norwester"/>
                <a:cs typeface="Norwester"/>
                <a:sym typeface="Norwester"/>
              </a:rPr>
              <a:t>FONDEMENTS THEORIQUES</a:t>
            </a:r>
          </a:p>
        </p:txBody>
      </p:sp>
      <p:sp>
        <p:nvSpPr>
          <p:cNvPr name="TextBox 7" id="7"/>
          <p:cNvSpPr txBox="true"/>
          <p:nvPr/>
        </p:nvSpPr>
        <p:spPr>
          <a:xfrm rot="0">
            <a:off x="12530431" y="3276351"/>
            <a:ext cx="2789396" cy="771525"/>
          </a:xfrm>
          <a:prstGeom prst="rect">
            <a:avLst/>
          </a:prstGeom>
        </p:spPr>
        <p:txBody>
          <a:bodyPr anchor="t" rtlCol="false" tIns="0" lIns="0" bIns="0" rIns="0">
            <a:spAutoFit/>
          </a:bodyPr>
          <a:lstStyle/>
          <a:p>
            <a:pPr algn="ctr">
              <a:lnSpc>
                <a:spcPts val="6300"/>
              </a:lnSpc>
            </a:pPr>
            <a:r>
              <a:rPr lang="en-US" sz="4500" b="true">
                <a:solidFill>
                  <a:srgbClr val="FF751F"/>
                </a:solidFill>
                <a:latin typeface="Canva Sans Bold"/>
                <a:ea typeface="Canva Sans Bold"/>
                <a:cs typeface="Canva Sans Bold"/>
                <a:sym typeface="Canva Sans Bold"/>
              </a:rPr>
              <a:t>DE</a:t>
            </a:r>
            <a:r>
              <a:rPr lang="en-US" b="true" sz="4500">
                <a:solidFill>
                  <a:srgbClr val="FF751F"/>
                </a:solidFill>
                <a:latin typeface="Canva Sans Bold"/>
                <a:ea typeface="Canva Sans Bold"/>
                <a:cs typeface="Canva Sans Bold"/>
                <a:sym typeface="Canva Sans Bold"/>
              </a:rPr>
              <a:t>CODER</a:t>
            </a:r>
          </a:p>
        </p:txBody>
      </p:sp>
      <p:sp>
        <p:nvSpPr>
          <p:cNvPr name="TextBox 8" id="8"/>
          <p:cNvSpPr txBox="true"/>
          <p:nvPr/>
        </p:nvSpPr>
        <p:spPr>
          <a:xfrm rot="0">
            <a:off x="9566194" y="4614164"/>
            <a:ext cx="7693106" cy="4191509"/>
          </a:xfrm>
          <a:prstGeom prst="rect">
            <a:avLst/>
          </a:prstGeom>
        </p:spPr>
        <p:txBody>
          <a:bodyPr anchor="t" rtlCol="false" tIns="0" lIns="0" bIns="0" rIns="0">
            <a:spAutoFit/>
          </a:bodyPr>
          <a:lstStyle/>
          <a:p>
            <a:pPr algn="just">
              <a:lnSpc>
                <a:spcPts val="5575"/>
              </a:lnSpc>
            </a:pPr>
            <a:r>
              <a:rPr lang="en-US" sz="3399" spc="-23">
                <a:solidFill>
                  <a:srgbClr val="000000"/>
                </a:solidFill>
                <a:latin typeface="Inter"/>
                <a:ea typeface="Inter"/>
                <a:cs typeface="Inter"/>
                <a:sym typeface="Inter"/>
              </a:rPr>
              <a:t>L</a:t>
            </a:r>
            <a:r>
              <a:rPr lang="en-US" sz="3399" spc="-23">
                <a:solidFill>
                  <a:srgbClr val="000000"/>
                </a:solidFill>
                <a:latin typeface="Inter"/>
                <a:ea typeface="Inter"/>
                <a:cs typeface="Inter"/>
                <a:sym typeface="Inter"/>
              </a:rPr>
              <a:t>e décodeur est la partie du réseau de neurones qui apprend à reconstruire les données d’origine à partir de l’espace latent, en restituant au mieux l’information encodée par l’encodeur.</a:t>
            </a:r>
          </a:p>
        </p:txBody>
      </p:sp>
      <p:sp>
        <p:nvSpPr>
          <p:cNvPr name="Freeform 9" id="9"/>
          <p:cNvSpPr/>
          <p:nvPr/>
        </p:nvSpPr>
        <p:spPr>
          <a:xfrm flipH="false" flipV="false" rot="-8410460">
            <a:off x="-8145520" y="-3388082"/>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1257" y="3733689"/>
            <a:ext cx="9365199" cy="5783011"/>
          </a:xfrm>
          <a:custGeom>
            <a:avLst/>
            <a:gdLst/>
            <a:ahLst/>
            <a:cxnLst/>
            <a:rect r="r" b="b" t="t" l="l"/>
            <a:pathLst>
              <a:path h="5783011" w="9365199">
                <a:moveTo>
                  <a:pt x="0" y="0"/>
                </a:moveTo>
                <a:lnTo>
                  <a:pt x="9365200" y="0"/>
                </a:lnTo>
                <a:lnTo>
                  <a:pt x="9365200" y="5783010"/>
                </a:lnTo>
                <a:lnTo>
                  <a:pt x="0" y="5783010"/>
                </a:lnTo>
                <a:lnTo>
                  <a:pt x="0" y="0"/>
                </a:lnTo>
                <a:close/>
              </a:path>
            </a:pathLst>
          </a:custGeom>
          <a:blipFill>
            <a:blip r:embed="rId2"/>
            <a:stretch>
              <a:fillRect l="0" t="0" r="0" b="0"/>
            </a:stretch>
          </a:blipFill>
        </p:spPr>
      </p:sp>
      <p:sp>
        <p:nvSpPr>
          <p:cNvPr name="TextBox 6" id="6"/>
          <p:cNvSpPr txBox="true"/>
          <p:nvPr/>
        </p:nvSpPr>
        <p:spPr>
          <a:xfrm rot="0">
            <a:off x="2882863" y="511873"/>
            <a:ext cx="12522274" cy="1224153"/>
          </a:xfrm>
          <a:prstGeom prst="rect">
            <a:avLst/>
          </a:prstGeom>
        </p:spPr>
        <p:txBody>
          <a:bodyPr anchor="t" rtlCol="false" tIns="0" lIns="0" bIns="0" rIns="0">
            <a:spAutoFit/>
          </a:bodyPr>
          <a:lstStyle/>
          <a:p>
            <a:pPr algn="ctr">
              <a:lnSpc>
                <a:spcPts val="9021"/>
              </a:lnSpc>
            </a:pPr>
            <a:r>
              <a:rPr lang="en-US" sz="9300" spc="-130">
                <a:solidFill>
                  <a:srgbClr val="004AAD"/>
                </a:solidFill>
                <a:latin typeface="Norwester"/>
                <a:ea typeface="Norwester"/>
                <a:cs typeface="Norwester"/>
                <a:sym typeface="Norwester"/>
              </a:rPr>
              <a:t>FONDEMENTS THEORIQUES</a:t>
            </a:r>
          </a:p>
        </p:txBody>
      </p:sp>
      <p:sp>
        <p:nvSpPr>
          <p:cNvPr name="TextBox 7" id="7"/>
          <p:cNvSpPr txBox="true"/>
          <p:nvPr/>
        </p:nvSpPr>
        <p:spPr>
          <a:xfrm rot="0">
            <a:off x="11551576" y="2962164"/>
            <a:ext cx="4398010" cy="771525"/>
          </a:xfrm>
          <a:prstGeom prst="rect">
            <a:avLst/>
          </a:prstGeom>
        </p:spPr>
        <p:txBody>
          <a:bodyPr anchor="t" rtlCol="false" tIns="0" lIns="0" bIns="0" rIns="0">
            <a:spAutoFit/>
          </a:bodyPr>
          <a:lstStyle/>
          <a:p>
            <a:pPr algn="ctr">
              <a:lnSpc>
                <a:spcPts val="6300"/>
              </a:lnSpc>
            </a:pPr>
            <a:r>
              <a:rPr lang="en-US" b="true" sz="4500">
                <a:solidFill>
                  <a:srgbClr val="FF751F"/>
                </a:solidFill>
                <a:latin typeface="Canva Sans Bold"/>
                <a:ea typeface="Canva Sans Bold"/>
                <a:cs typeface="Canva Sans Bold"/>
                <a:sym typeface="Canva Sans Bold"/>
              </a:rPr>
              <a:t>AUTOENCODER</a:t>
            </a:r>
          </a:p>
        </p:txBody>
      </p:sp>
      <p:sp>
        <p:nvSpPr>
          <p:cNvPr name="TextBox 8" id="8"/>
          <p:cNvSpPr txBox="true"/>
          <p:nvPr/>
        </p:nvSpPr>
        <p:spPr>
          <a:xfrm rot="0">
            <a:off x="10078576" y="4642739"/>
            <a:ext cx="7344010" cy="4615561"/>
          </a:xfrm>
          <a:prstGeom prst="rect">
            <a:avLst/>
          </a:prstGeom>
        </p:spPr>
        <p:txBody>
          <a:bodyPr anchor="t" rtlCol="false" tIns="0" lIns="0" bIns="0" rIns="0">
            <a:spAutoFit/>
          </a:bodyPr>
          <a:lstStyle/>
          <a:p>
            <a:pPr algn="just">
              <a:lnSpc>
                <a:spcPts val="4591"/>
              </a:lnSpc>
            </a:pPr>
            <a:r>
              <a:rPr lang="en-US" sz="2799" spc="-19">
                <a:solidFill>
                  <a:srgbClr val="000000"/>
                </a:solidFill>
                <a:latin typeface="Inter"/>
                <a:ea typeface="Inter"/>
                <a:cs typeface="Inter"/>
                <a:sym typeface="Inter"/>
              </a:rPr>
              <a:t>Un aut</a:t>
            </a:r>
            <a:r>
              <a:rPr lang="en-US" sz="2799" spc="-19">
                <a:solidFill>
                  <a:srgbClr val="000000"/>
                </a:solidFill>
                <a:latin typeface="Inter"/>
                <a:ea typeface="Inter"/>
                <a:cs typeface="Inter"/>
                <a:sym typeface="Inter"/>
              </a:rPr>
              <a:t>oencodeur est un réseau de neurones non supervisé qui apprend à encoder les données d’entrée dans un espace latent de faible dimension puis à reconstruire ces données en sortie, permettant ainsi de capturer les caractéristiques essentielles et les structures cachées des données.</a:t>
            </a:r>
          </a:p>
        </p:txBody>
      </p:sp>
      <p:sp>
        <p:nvSpPr>
          <p:cNvPr name="Freeform 9" id="9"/>
          <p:cNvSpPr/>
          <p:nvPr/>
        </p:nvSpPr>
        <p:spPr>
          <a:xfrm flipH="false" flipV="false" rot="-8410460">
            <a:off x="-7700384" y="-3585434"/>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61257" y="3733689"/>
            <a:ext cx="9365199" cy="5783011"/>
          </a:xfrm>
          <a:custGeom>
            <a:avLst/>
            <a:gdLst/>
            <a:ahLst/>
            <a:cxnLst/>
            <a:rect r="r" b="b" t="t" l="l"/>
            <a:pathLst>
              <a:path h="5783011" w="9365199">
                <a:moveTo>
                  <a:pt x="0" y="0"/>
                </a:moveTo>
                <a:lnTo>
                  <a:pt x="9365200" y="0"/>
                </a:lnTo>
                <a:lnTo>
                  <a:pt x="9365200" y="5783010"/>
                </a:lnTo>
                <a:lnTo>
                  <a:pt x="0" y="5783010"/>
                </a:lnTo>
                <a:lnTo>
                  <a:pt x="0" y="0"/>
                </a:lnTo>
                <a:close/>
              </a:path>
            </a:pathLst>
          </a:custGeom>
          <a:blipFill>
            <a:blip r:embed="rId2"/>
            <a:stretch>
              <a:fillRect l="0" t="0" r="0" b="0"/>
            </a:stretch>
          </a:blipFill>
        </p:spPr>
      </p:sp>
      <p:sp>
        <p:nvSpPr>
          <p:cNvPr name="TextBox 6" id="6"/>
          <p:cNvSpPr txBox="true"/>
          <p:nvPr/>
        </p:nvSpPr>
        <p:spPr>
          <a:xfrm rot="0">
            <a:off x="2882863" y="511873"/>
            <a:ext cx="12522274" cy="1224153"/>
          </a:xfrm>
          <a:prstGeom prst="rect">
            <a:avLst/>
          </a:prstGeom>
        </p:spPr>
        <p:txBody>
          <a:bodyPr anchor="t" rtlCol="false" tIns="0" lIns="0" bIns="0" rIns="0">
            <a:spAutoFit/>
          </a:bodyPr>
          <a:lstStyle/>
          <a:p>
            <a:pPr algn="ctr">
              <a:lnSpc>
                <a:spcPts val="9021"/>
              </a:lnSpc>
            </a:pPr>
            <a:r>
              <a:rPr lang="en-US" sz="9300" spc="-130">
                <a:solidFill>
                  <a:srgbClr val="004AAD"/>
                </a:solidFill>
                <a:latin typeface="Norwester"/>
                <a:ea typeface="Norwester"/>
                <a:cs typeface="Norwester"/>
                <a:sym typeface="Norwester"/>
              </a:rPr>
              <a:t>FONDEMENTS THEORIQUES</a:t>
            </a:r>
          </a:p>
        </p:txBody>
      </p:sp>
      <p:sp>
        <p:nvSpPr>
          <p:cNvPr name="TextBox 7" id="7"/>
          <p:cNvSpPr txBox="true"/>
          <p:nvPr/>
        </p:nvSpPr>
        <p:spPr>
          <a:xfrm rot="0">
            <a:off x="11551576" y="2962164"/>
            <a:ext cx="4398010" cy="771525"/>
          </a:xfrm>
          <a:prstGeom prst="rect">
            <a:avLst/>
          </a:prstGeom>
        </p:spPr>
        <p:txBody>
          <a:bodyPr anchor="t" rtlCol="false" tIns="0" lIns="0" bIns="0" rIns="0">
            <a:spAutoFit/>
          </a:bodyPr>
          <a:lstStyle/>
          <a:p>
            <a:pPr algn="ctr">
              <a:lnSpc>
                <a:spcPts val="6300"/>
              </a:lnSpc>
            </a:pPr>
            <a:r>
              <a:rPr lang="en-US" b="true" sz="4500">
                <a:solidFill>
                  <a:srgbClr val="FF751F"/>
                </a:solidFill>
                <a:latin typeface="Canva Sans Bold"/>
                <a:ea typeface="Canva Sans Bold"/>
                <a:cs typeface="Canva Sans Bold"/>
                <a:sym typeface="Canva Sans Bold"/>
              </a:rPr>
              <a:t>AUTOENCODER</a:t>
            </a:r>
          </a:p>
        </p:txBody>
      </p:sp>
      <p:sp>
        <p:nvSpPr>
          <p:cNvPr name="TextBox 8" id="8"/>
          <p:cNvSpPr txBox="true"/>
          <p:nvPr/>
        </p:nvSpPr>
        <p:spPr>
          <a:xfrm rot="0">
            <a:off x="10078576" y="4642739"/>
            <a:ext cx="7344010" cy="4615561"/>
          </a:xfrm>
          <a:prstGeom prst="rect">
            <a:avLst/>
          </a:prstGeom>
        </p:spPr>
        <p:txBody>
          <a:bodyPr anchor="t" rtlCol="false" tIns="0" lIns="0" bIns="0" rIns="0">
            <a:spAutoFit/>
          </a:bodyPr>
          <a:lstStyle/>
          <a:p>
            <a:pPr algn="just">
              <a:lnSpc>
                <a:spcPts val="4591"/>
              </a:lnSpc>
            </a:pPr>
            <a:r>
              <a:rPr lang="en-US" sz="2799" spc="-19">
                <a:solidFill>
                  <a:srgbClr val="000000"/>
                </a:solidFill>
                <a:latin typeface="Inter"/>
                <a:ea typeface="Inter"/>
                <a:cs typeface="Inter"/>
                <a:sym typeface="Inter"/>
              </a:rPr>
              <a:t>Un aut</a:t>
            </a:r>
            <a:r>
              <a:rPr lang="en-US" sz="2799" spc="-19">
                <a:solidFill>
                  <a:srgbClr val="000000"/>
                </a:solidFill>
                <a:latin typeface="Inter"/>
                <a:ea typeface="Inter"/>
                <a:cs typeface="Inter"/>
                <a:sym typeface="Inter"/>
              </a:rPr>
              <a:t>oencodeur est un réseau de neurones non supervisé qui apprend à encoder les données d’entrée dans un espace latent de faible dimension puis à reconstruire ces données en sortie, permettant ainsi de capturer les caractéristiques essentielles et les structures cachées des données.</a:t>
            </a:r>
          </a:p>
        </p:txBody>
      </p:sp>
      <p:sp>
        <p:nvSpPr>
          <p:cNvPr name="Freeform 9" id="9"/>
          <p:cNvSpPr/>
          <p:nvPr/>
        </p:nvSpPr>
        <p:spPr>
          <a:xfrm flipH="false" flipV="false" rot="-8410460">
            <a:off x="-6939638" y="-3161769"/>
            <a:ext cx="11976399" cy="7170869"/>
          </a:xfrm>
          <a:custGeom>
            <a:avLst/>
            <a:gdLst/>
            <a:ahLst/>
            <a:cxnLst/>
            <a:rect r="r" b="b" t="t" l="l"/>
            <a:pathLst>
              <a:path h="7170869" w="11976399">
                <a:moveTo>
                  <a:pt x="0" y="0"/>
                </a:moveTo>
                <a:lnTo>
                  <a:pt x="11976398" y="0"/>
                </a:lnTo>
                <a:lnTo>
                  <a:pt x="11976398" y="7170869"/>
                </a:lnTo>
                <a:lnTo>
                  <a:pt x="0" y="7170869"/>
                </a:lnTo>
                <a:lnTo>
                  <a:pt x="0" y="0"/>
                </a:lnTo>
                <a:close/>
              </a:path>
            </a:pathLst>
          </a:custGeom>
          <a:blipFill>
            <a:blip r:embed="rId3"/>
            <a:stretch>
              <a:fillRect l="0" t="0" r="0" b="0"/>
            </a:stretch>
          </a:blipFill>
        </p:spPr>
      </p:sp>
      <p:sp>
        <p:nvSpPr>
          <p:cNvPr name="Freeform 10" id="10"/>
          <p:cNvSpPr/>
          <p:nvPr/>
        </p:nvSpPr>
        <p:spPr>
          <a:xfrm flipH="false" flipV="false" rot="-8410460">
            <a:off x="13695577" y="-2959424"/>
            <a:ext cx="11976399" cy="7170869"/>
          </a:xfrm>
          <a:custGeom>
            <a:avLst/>
            <a:gdLst/>
            <a:ahLst/>
            <a:cxnLst/>
            <a:rect r="r" b="b" t="t" l="l"/>
            <a:pathLst>
              <a:path h="7170869" w="11976399">
                <a:moveTo>
                  <a:pt x="0" y="0"/>
                </a:moveTo>
                <a:lnTo>
                  <a:pt x="11976399" y="0"/>
                </a:lnTo>
                <a:lnTo>
                  <a:pt x="11976399" y="7170869"/>
                </a:lnTo>
                <a:lnTo>
                  <a:pt x="0" y="717086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9950507" y="8096660"/>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8410460">
            <a:off x="-4530612" y="-4227332"/>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
        <p:nvSpPr>
          <p:cNvPr name="TextBox 4" id="4"/>
          <p:cNvSpPr txBox="true"/>
          <p:nvPr/>
        </p:nvSpPr>
        <p:spPr>
          <a:xfrm rot="0">
            <a:off x="12664408" y="37031"/>
            <a:ext cx="7273548" cy="4827496"/>
          </a:xfrm>
          <a:prstGeom prst="rect">
            <a:avLst/>
          </a:prstGeom>
        </p:spPr>
        <p:txBody>
          <a:bodyPr anchor="t" rtlCol="false" tIns="0" lIns="0" bIns="0" rIns="0">
            <a:spAutoFit/>
          </a:bodyPr>
          <a:lstStyle/>
          <a:p>
            <a:pPr algn="ctr">
              <a:lnSpc>
                <a:spcPts val="33472"/>
              </a:lnSpc>
            </a:pPr>
            <a:r>
              <a:rPr lang="en-US" b="true" sz="34507" spc="-2760">
                <a:solidFill>
                  <a:srgbClr val="164B82"/>
                </a:solidFill>
                <a:latin typeface="Telegraf Bold"/>
                <a:ea typeface="Telegraf Bold"/>
                <a:cs typeface="Telegraf Bold"/>
                <a:sym typeface="Telegraf Bold"/>
              </a:rPr>
              <a:t>06</a:t>
            </a:r>
          </a:p>
        </p:txBody>
      </p:sp>
      <p:grpSp>
        <p:nvGrpSpPr>
          <p:cNvPr name="Group 5" id="5"/>
          <p:cNvGrpSpPr/>
          <p:nvPr/>
        </p:nvGrpSpPr>
        <p:grpSpPr>
          <a:xfrm rot="0">
            <a:off x="1028700" y="1947934"/>
            <a:ext cx="5473709" cy="2431846"/>
            <a:chOff x="0" y="0"/>
            <a:chExt cx="1441635" cy="640486"/>
          </a:xfrm>
        </p:grpSpPr>
        <p:sp>
          <p:nvSpPr>
            <p:cNvPr name="Freeform 6" id="6"/>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7" id="7"/>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8" id="8"/>
          <p:cNvGrpSpPr/>
          <p:nvPr/>
        </p:nvGrpSpPr>
        <p:grpSpPr>
          <a:xfrm rot="0">
            <a:off x="1028700" y="4575009"/>
            <a:ext cx="5473709" cy="2431846"/>
            <a:chOff x="0" y="0"/>
            <a:chExt cx="1441635" cy="640486"/>
          </a:xfrm>
        </p:grpSpPr>
        <p:sp>
          <p:nvSpPr>
            <p:cNvPr name="Freeform 9" id="9"/>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0" id="10"/>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11" id="11"/>
          <p:cNvGrpSpPr/>
          <p:nvPr/>
        </p:nvGrpSpPr>
        <p:grpSpPr>
          <a:xfrm rot="0">
            <a:off x="1028700" y="7205986"/>
            <a:ext cx="5473709" cy="2431846"/>
            <a:chOff x="0" y="0"/>
            <a:chExt cx="1441635" cy="640486"/>
          </a:xfrm>
        </p:grpSpPr>
        <p:sp>
          <p:nvSpPr>
            <p:cNvPr name="Freeform 12" id="12"/>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3" id="13"/>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14" id="14"/>
          <p:cNvGrpSpPr/>
          <p:nvPr/>
        </p:nvGrpSpPr>
        <p:grpSpPr>
          <a:xfrm rot="0">
            <a:off x="11785591" y="1947934"/>
            <a:ext cx="5473709" cy="2431846"/>
            <a:chOff x="0" y="0"/>
            <a:chExt cx="1441635" cy="640486"/>
          </a:xfrm>
        </p:grpSpPr>
        <p:sp>
          <p:nvSpPr>
            <p:cNvPr name="Freeform 15" id="15"/>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6" id="16"/>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17" id="17"/>
          <p:cNvGrpSpPr/>
          <p:nvPr/>
        </p:nvGrpSpPr>
        <p:grpSpPr>
          <a:xfrm rot="0">
            <a:off x="11785591" y="4575009"/>
            <a:ext cx="5473709" cy="2431846"/>
            <a:chOff x="0" y="0"/>
            <a:chExt cx="1441635" cy="640486"/>
          </a:xfrm>
        </p:grpSpPr>
        <p:sp>
          <p:nvSpPr>
            <p:cNvPr name="Freeform 18" id="18"/>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9" id="19"/>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grpSp>
        <p:nvGrpSpPr>
          <p:cNvPr name="Group 20" id="20"/>
          <p:cNvGrpSpPr/>
          <p:nvPr/>
        </p:nvGrpSpPr>
        <p:grpSpPr>
          <a:xfrm rot="0">
            <a:off x="11785591" y="7205986"/>
            <a:ext cx="5473709" cy="2431846"/>
            <a:chOff x="0" y="0"/>
            <a:chExt cx="1441635" cy="640486"/>
          </a:xfrm>
        </p:grpSpPr>
        <p:sp>
          <p:nvSpPr>
            <p:cNvPr name="Freeform 21" id="21"/>
            <p:cNvSpPr/>
            <p:nvPr/>
          </p:nvSpPr>
          <p:spPr>
            <a:xfrm flipH="false" flipV="false" rot="0">
              <a:off x="0" y="0"/>
              <a:ext cx="1441635" cy="640486"/>
            </a:xfrm>
            <a:custGeom>
              <a:avLst/>
              <a:gdLst/>
              <a:ahLst/>
              <a:cxnLst/>
              <a:rect r="r" b="b" t="t" l="l"/>
              <a:pathLst>
                <a:path h="640486" w="1441635">
                  <a:moveTo>
                    <a:pt x="45260" y="0"/>
                  </a:moveTo>
                  <a:lnTo>
                    <a:pt x="1396375" y="0"/>
                  </a:lnTo>
                  <a:cubicBezTo>
                    <a:pt x="1421372" y="0"/>
                    <a:pt x="1441635" y="20264"/>
                    <a:pt x="1441635" y="45260"/>
                  </a:cubicBezTo>
                  <a:lnTo>
                    <a:pt x="1441635" y="595226"/>
                  </a:lnTo>
                  <a:cubicBezTo>
                    <a:pt x="1441635" y="620223"/>
                    <a:pt x="1421372" y="640486"/>
                    <a:pt x="1396375" y="640486"/>
                  </a:cubicBezTo>
                  <a:lnTo>
                    <a:pt x="45260" y="640486"/>
                  </a:lnTo>
                  <a:cubicBezTo>
                    <a:pt x="20264" y="640486"/>
                    <a:pt x="0" y="620223"/>
                    <a:pt x="0" y="595226"/>
                  </a:cubicBezTo>
                  <a:lnTo>
                    <a:pt x="0" y="45260"/>
                  </a:lnTo>
                  <a:cubicBezTo>
                    <a:pt x="0" y="20264"/>
                    <a:pt x="20264" y="0"/>
                    <a:pt x="45260" y="0"/>
                  </a:cubicBez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2" id="22"/>
            <p:cNvSpPr txBox="true"/>
            <p:nvPr/>
          </p:nvSpPr>
          <p:spPr>
            <a:xfrm>
              <a:off x="0" y="-57150"/>
              <a:ext cx="1441635" cy="697636"/>
            </a:xfrm>
            <a:prstGeom prst="rect">
              <a:avLst/>
            </a:prstGeom>
          </p:spPr>
          <p:txBody>
            <a:bodyPr anchor="ctr" rtlCol="false" tIns="50800" lIns="50800" bIns="50800" rIns="50800"/>
            <a:lstStyle/>
            <a:p>
              <a:pPr algn="ctr">
                <a:lnSpc>
                  <a:spcPts val="3639"/>
                </a:lnSpc>
              </a:pPr>
            </a:p>
          </p:txBody>
        </p:sp>
      </p:grpSp>
      <p:sp>
        <p:nvSpPr>
          <p:cNvPr name="TextBox 23" id="23"/>
          <p:cNvSpPr txBox="true"/>
          <p:nvPr/>
        </p:nvSpPr>
        <p:spPr>
          <a:xfrm rot="0">
            <a:off x="1028700" y="2708558"/>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E</a:t>
            </a:r>
          </a:p>
        </p:txBody>
      </p:sp>
      <p:sp>
        <p:nvSpPr>
          <p:cNvPr name="TextBox 24" id="24"/>
          <p:cNvSpPr txBox="true"/>
          <p:nvPr/>
        </p:nvSpPr>
        <p:spPr>
          <a:xfrm rot="0">
            <a:off x="11785591" y="2708558"/>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M</a:t>
            </a:r>
          </a:p>
        </p:txBody>
      </p:sp>
      <p:sp>
        <p:nvSpPr>
          <p:cNvPr name="TextBox 25" id="25"/>
          <p:cNvSpPr txBox="true"/>
          <p:nvPr/>
        </p:nvSpPr>
        <p:spPr>
          <a:xfrm rot="0">
            <a:off x="1028700" y="5335633"/>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F</a:t>
            </a:r>
          </a:p>
        </p:txBody>
      </p:sp>
      <p:sp>
        <p:nvSpPr>
          <p:cNvPr name="TextBox 26" id="26"/>
          <p:cNvSpPr txBox="true"/>
          <p:nvPr/>
        </p:nvSpPr>
        <p:spPr>
          <a:xfrm rot="0">
            <a:off x="11785591" y="5335633"/>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C</a:t>
            </a:r>
          </a:p>
        </p:txBody>
      </p:sp>
      <p:grpSp>
        <p:nvGrpSpPr>
          <p:cNvPr name="Group 27" id="27"/>
          <p:cNvGrpSpPr/>
          <p:nvPr/>
        </p:nvGrpSpPr>
        <p:grpSpPr>
          <a:xfrm rot="0">
            <a:off x="6584438" y="5571304"/>
            <a:ext cx="5119124" cy="751127"/>
            <a:chOff x="0" y="0"/>
            <a:chExt cx="6825498" cy="1001503"/>
          </a:xfrm>
        </p:grpSpPr>
        <p:sp>
          <p:nvSpPr>
            <p:cNvPr name="TextBox 28" id="28"/>
            <p:cNvSpPr txBox="true"/>
            <p:nvPr/>
          </p:nvSpPr>
          <p:spPr>
            <a:xfrm rot="0">
              <a:off x="0" y="38100"/>
              <a:ext cx="6825498" cy="764586"/>
            </a:xfrm>
            <a:prstGeom prst="rect">
              <a:avLst/>
            </a:prstGeom>
          </p:spPr>
          <p:txBody>
            <a:bodyPr anchor="t" rtlCol="false" tIns="0" lIns="0" bIns="0" rIns="0">
              <a:spAutoFit/>
            </a:bodyPr>
            <a:lstStyle/>
            <a:p>
              <a:pPr algn="ctr">
                <a:lnSpc>
                  <a:spcPts val="3860"/>
                </a:lnSpc>
              </a:pPr>
              <a:r>
                <a:rPr lang="en-US" b="true" sz="3979">
                  <a:solidFill>
                    <a:srgbClr val="343434"/>
                  </a:solidFill>
                  <a:latin typeface="Telegraf Bold"/>
                  <a:ea typeface="Telegraf Bold"/>
                  <a:cs typeface="Telegraf Bold"/>
                  <a:sym typeface="Telegraf Bold"/>
                </a:rPr>
                <a:t>METHODOLOGY</a:t>
              </a:r>
            </a:p>
          </p:txBody>
        </p:sp>
        <p:sp>
          <p:nvSpPr>
            <p:cNvPr name="TextBox 29" id="29"/>
            <p:cNvSpPr txBox="true"/>
            <p:nvPr/>
          </p:nvSpPr>
          <p:spPr>
            <a:xfrm rot="0">
              <a:off x="0" y="779748"/>
              <a:ext cx="6825498" cy="221755"/>
            </a:xfrm>
            <a:prstGeom prst="rect">
              <a:avLst/>
            </a:prstGeom>
          </p:spPr>
          <p:txBody>
            <a:bodyPr anchor="t" rtlCol="false" tIns="0" lIns="0" bIns="0" rIns="0">
              <a:spAutoFit/>
            </a:bodyPr>
            <a:lstStyle/>
            <a:p>
              <a:pPr algn="ctr">
                <a:lnSpc>
                  <a:spcPts val="1332"/>
                </a:lnSpc>
                <a:spcBef>
                  <a:spcPct val="0"/>
                </a:spcBef>
              </a:pPr>
            </a:p>
          </p:txBody>
        </p:sp>
      </p:grpSp>
      <p:sp>
        <p:nvSpPr>
          <p:cNvPr name="TextBox 30" id="30"/>
          <p:cNvSpPr txBox="true"/>
          <p:nvPr/>
        </p:nvSpPr>
        <p:spPr>
          <a:xfrm rot="0">
            <a:off x="3511197" y="2349148"/>
            <a:ext cx="2602692"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Exploration de données</a:t>
            </a:r>
          </a:p>
        </p:txBody>
      </p:sp>
      <p:sp>
        <p:nvSpPr>
          <p:cNvPr name="TextBox 31" id="31"/>
          <p:cNvSpPr txBox="true"/>
          <p:nvPr/>
        </p:nvSpPr>
        <p:spPr>
          <a:xfrm rot="0">
            <a:off x="14562020" y="1312122"/>
            <a:ext cx="2308760"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Méthodes classiques</a:t>
            </a:r>
          </a:p>
        </p:txBody>
      </p:sp>
      <p:sp>
        <p:nvSpPr>
          <p:cNvPr name="TextBox 32" id="32"/>
          <p:cNvSpPr txBox="true"/>
          <p:nvPr/>
        </p:nvSpPr>
        <p:spPr>
          <a:xfrm rot="0">
            <a:off x="3669295" y="4976223"/>
            <a:ext cx="2286496"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Futures Engineering</a:t>
            </a:r>
          </a:p>
        </p:txBody>
      </p:sp>
      <p:sp>
        <p:nvSpPr>
          <p:cNvPr name="TextBox 33" id="33"/>
          <p:cNvSpPr txBox="true"/>
          <p:nvPr/>
        </p:nvSpPr>
        <p:spPr>
          <a:xfrm rot="0">
            <a:off x="1028700" y="7962708"/>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E</a:t>
            </a:r>
          </a:p>
        </p:txBody>
      </p:sp>
      <p:sp>
        <p:nvSpPr>
          <p:cNvPr name="TextBox 34" id="34"/>
          <p:cNvSpPr txBox="true"/>
          <p:nvPr/>
        </p:nvSpPr>
        <p:spPr>
          <a:xfrm rot="0">
            <a:off x="11785591" y="7962708"/>
            <a:ext cx="1497347" cy="986799"/>
          </a:xfrm>
          <a:prstGeom prst="rect">
            <a:avLst/>
          </a:prstGeom>
        </p:spPr>
        <p:txBody>
          <a:bodyPr anchor="t" rtlCol="false" tIns="0" lIns="0" bIns="0" rIns="0">
            <a:spAutoFit/>
          </a:bodyPr>
          <a:lstStyle/>
          <a:p>
            <a:pPr algn="ctr">
              <a:lnSpc>
                <a:spcPts val="6772"/>
              </a:lnSpc>
            </a:pPr>
            <a:r>
              <a:rPr lang="en-US" b="true" sz="6982">
                <a:solidFill>
                  <a:srgbClr val="F2F7FA"/>
                </a:solidFill>
                <a:latin typeface="Telegraf Bold"/>
                <a:ea typeface="Telegraf Bold"/>
                <a:cs typeface="Telegraf Bold"/>
                <a:sym typeface="Telegraf Bold"/>
              </a:rPr>
              <a:t>D</a:t>
            </a:r>
          </a:p>
        </p:txBody>
      </p:sp>
      <p:sp>
        <p:nvSpPr>
          <p:cNvPr name="TextBox 35" id="35"/>
          <p:cNvSpPr txBox="true"/>
          <p:nvPr/>
        </p:nvSpPr>
        <p:spPr>
          <a:xfrm rot="0">
            <a:off x="2881789" y="7383522"/>
            <a:ext cx="3117293" cy="559435"/>
          </a:xfrm>
          <a:prstGeom prst="rect">
            <a:avLst/>
          </a:prstGeom>
        </p:spPr>
        <p:txBody>
          <a:bodyPr anchor="t" rtlCol="false" tIns="0" lIns="0" bIns="0" rIns="0">
            <a:spAutoFit/>
          </a:bodyPr>
          <a:lstStyle/>
          <a:p>
            <a:pPr algn="l">
              <a:lnSpc>
                <a:spcPts val="2240"/>
              </a:lnSpc>
              <a:spcBef>
                <a:spcPct val="0"/>
              </a:spcBef>
            </a:pPr>
            <a:r>
              <a:rPr lang="en-US" sz="1600" spc="80">
                <a:solidFill>
                  <a:srgbClr val="F2F7FA"/>
                </a:solidFill>
                <a:latin typeface="Telegraf"/>
                <a:ea typeface="Telegraf"/>
                <a:cs typeface="Telegraf"/>
                <a:sym typeface="Telegraf"/>
              </a:rPr>
              <a:t>Entrainement des autoencodeurs (Dense,LSTM)</a:t>
            </a:r>
          </a:p>
        </p:txBody>
      </p:sp>
      <p:sp>
        <p:nvSpPr>
          <p:cNvPr name="TextBox 36" id="36"/>
          <p:cNvSpPr txBox="true"/>
          <p:nvPr/>
        </p:nvSpPr>
        <p:spPr>
          <a:xfrm rot="0">
            <a:off x="13627306" y="4860290"/>
            <a:ext cx="3243474"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Clustering dans l’espace latent</a:t>
            </a:r>
          </a:p>
        </p:txBody>
      </p:sp>
      <p:sp>
        <p:nvSpPr>
          <p:cNvPr name="AutoShape 37" id="37"/>
          <p:cNvSpPr/>
          <p:nvPr/>
        </p:nvSpPr>
        <p:spPr>
          <a:xfrm>
            <a:off x="6502409" y="3163857"/>
            <a:ext cx="5283182" cy="0"/>
          </a:xfrm>
          <a:prstGeom prst="line">
            <a:avLst/>
          </a:prstGeom>
          <a:ln cap="flat" w="19050">
            <a:solidFill>
              <a:srgbClr val="164B82"/>
            </a:solidFill>
            <a:prstDash val="sysDash"/>
            <a:headEnd type="oval" len="lg" w="lg"/>
            <a:tailEnd type="oval" len="lg" w="lg"/>
          </a:ln>
        </p:spPr>
      </p:sp>
      <p:sp>
        <p:nvSpPr>
          <p:cNvPr name="AutoShape 38" id="38"/>
          <p:cNvSpPr/>
          <p:nvPr/>
        </p:nvSpPr>
        <p:spPr>
          <a:xfrm>
            <a:off x="6502409" y="8421909"/>
            <a:ext cx="5283182" cy="0"/>
          </a:xfrm>
          <a:prstGeom prst="line">
            <a:avLst/>
          </a:prstGeom>
          <a:ln cap="flat" w="19050">
            <a:solidFill>
              <a:srgbClr val="164B82"/>
            </a:solidFill>
            <a:prstDash val="sysDash"/>
            <a:headEnd type="oval" len="lg" w="lg"/>
            <a:tailEnd type="oval" len="lg" w="lg"/>
          </a:ln>
        </p:spPr>
      </p:sp>
      <p:sp>
        <p:nvSpPr>
          <p:cNvPr name="AutoShape 39" id="39"/>
          <p:cNvSpPr/>
          <p:nvPr/>
        </p:nvSpPr>
        <p:spPr>
          <a:xfrm>
            <a:off x="6502409" y="5790932"/>
            <a:ext cx="82029" cy="155936"/>
          </a:xfrm>
          <a:prstGeom prst="line">
            <a:avLst/>
          </a:prstGeom>
          <a:ln cap="flat" w="19050">
            <a:solidFill>
              <a:srgbClr val="164B82"/>
            </a:solidFill>
            <a:prstDash val="sysDash"/>
            <a:headEnd type="oval" len="lg" w="lg"/>
            <a:tailEnd type="oval" len="lg" w="lg"/>
          </a:ln>
        </p:spPr>
      </p:sp>
      <p:sp>
        <p:nvSpPr>
          <p:cNvPr name="AutoShape 40" id="40"/>
          <p:cNvSpPr/>
          <p:nvPr/>
        </p:nvSpPr>
        <p:spPr>
          <a:xfrm flipV="true">
            <a:off x="11703562" y="5790932"/>
            <a:ext cx="82029" cy="155936"/>
          </a:xfrm>
          <a:prstGeom prst="line">
            <a:avLst/>
          </a:prstGeom>
          <a:ln cap="flat" w="19050">
            <a:solidFill>
              <a:srgbClr val="164B82"/>
            </a:solidFill>
            <a:prstDash val="sysDash"/>
            <a:headEnd type="oval" len="lg" w="lg"/>
            <a:tailEnd type="oval" len="lg" w="lg"/>
          </a:ln>
        </p:spPr>
      </p:sp>
      <p:sp>
        <p:nvSpPr>
          <p:cNvPr name="TextBox 41" id="41"/>
          <p:cNvSpPr txBox="true"/>
          <p:nvPr/>
        </p:nvSpPr>
        <p:spPr>
          <a:xfrm rot="0">
            <a:off x="6397708" y="505989"/>
            <a:ext cx="5492585" cy="971550"/>
          </a:xfrm>
          <a:prstGeom prst="rect">
            <a:avLst/>
          </a:prstGeom>
        </p:spPr>
        <p:txBody>
          <a:bodyPr anchor="t" rtlCol="false" tIns="0" lIns="0" bIns="0" rIns="0">
            <a:spAutoFit/>
          </a:bodyPr>
          <a:lstStyle/>
          <a:p>
            <a:pPr algn="l">
              <a:lnSpc>
                <a:spcPts val="7275"/>
              </a:lnSpc>
            </a:pPr>
            <a:r>
              <a:rPr lang="en-US" sz="7500" spc="-105">
                <a:solidFill>
                  <a:srgbClr val="004AAD"/>
                </a:solidFill>
                <a:latin typeface="Norwester"/>
                <a:ea typeface="Norwester"/>
                <a:cs typeface="Norwester"/>
                <a:sym typeface="Norwester"/>
              </a:rPr>
              <a:t>METHODOLOGIE </a:t>
            </a:r>
          </a:p>
        </p:txBody>
      </p:sp>
      <p:sp>
        <p:nvSpPr>
          <p:cNvPr name="TextBox 42" id="42"/>
          <p:cNvSpPr txBox="true"/>
          <p:nvPr/>
        </p:nvSpPr>
        <p:spPr>
          <a:xfrm rot="0">
            <a:off x="14562020" y="2224874"/>
            <a:ext cx="2308760"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Méthodes classiques</a:t>
            </a:r>
          </a:p>
        </p:txBody>
      </p:sp>
      <p:sp>
        <p:nvSpPr>
          <p:cNvPr name="TextBox 43" id="43"/>
          <p:cNvSpPr txBox="true"/>
          <p:nvPr/>
        </p:nvSpPr>
        <p:spPr>
          <a:xfrm rot="0">
            <a:off x="14522445" y="7483106"/>
            <a:ext cx="2308760" cy="283210"/>
          </a:xfrm>
          <a:prstGeom prst="rect">
            <a:avLst/>
          </a:prstGeom>
        </p:spPr>
        <p:txBody>
          <a:bodyPr anchor="t" rtlCol="false" tIns="0" lIns="0" bIns="0" rIns="0">
            <a:spAutoFit/>
          </a:bodyPr>
          <a:lstStyle/>
          <a:p>
            <a:pPr algn="just">
              <a:lnSpc>
                <a:spcPts val="2240"/>
              </a:lnSpc>
              <a:spcBef>
                <a:spcPct val="0"/>
              </a:spcBef>
            </a:pPr>
            <a:r>
              <a:rPr lang="en-US" sz="1600" spc="80">
                <a:solidFill>
                  <a:srgbClr val="F2F7FA"/>
                </a:solidFill>
                <a:latin typeface="Telegraf"/>
                <a:ea typeface="Telegraf"/>
                <a:cs typeface="Telegraf"/>
                <a:sym typeface="Telegraf"/>
              </a:rPr>
              <a:t>Méthodes classiques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58425"/>
            <a:chOff x="0" y="0"/>
            <a:chExt cx="4816593" cy="2701807"/>
          </a:xfrm>
        </p:grpSpPr>
        <p:sp>
          <p:nvSpPr>
            <p:cNvPr name="Freeform 3" id="3"/>
            <p:cNvSpPr/>
            <p:nvPr/>
          </p:nvSpPr>
          <p:spPr>
            <a:xfrm flipH="false" flipV="false" rot="0">
              <a:off x="0" y="0"/>
              <a:ext cx="4816592" cy="2701807"/>
            </a:xfrm>
            <a:custGeom>
              <a:avLst/>
              <a:gdLst/>
              <a:ahLst/>
              <a:cxnLst/>
              <a:rect r="r" b="b" t="t" l="l"/>
              <a:pathLst>
                <a:path h="2701807" w="4816592">
                  <a:moveTo>
                    <a:pt x="0" y="0"/>
                  </a:moveTo>
                  <a:lnTo>
                    <a:pt x="4816592" y="0"/>
                  </a:lnTo>
                  <a:lnTo>
                    <a:pt x="4816592" y="2701807"/>
                  </a:lnTo>
                  <a:lnTo>
                    <a:pt x="0" y="2701807"/>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3990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67204" y="2801992"/>
            <a:ext cx="15353592" cy="7081844"/>
          </a:xfrm>
          <a:custGeom>
            <a:avLst/>
            <a:gdLst/>
            <a:ahLst/>
            <a:cxnLst/>
            <a:rect r="r" b="b" t="t" l="l"/>
            <a:pathLst>
              <a:path h="7081844" w="15353592">
                <a:moveTo>
                  <a:pt x="0" y="0"/>
                </a:moveTo>
                <a:lnTo>
                  <a:pt x="15353592" y="0"/>
                </a:lnTo>
                <a:lnTo>
                  <a:pt x="15353592" y="7081845"/>
                </a:lnTo>
                <a:lnTo>
                  <a:pt x="0" y="7081845"/>
                </a:lnTo>
                <a:lnTo>
                  <a:pt x="0" y="0"/>
                </a:lnTo>
                <a:close/>
              </a:path>
            </a:pathLst>
          </a:custGeom>
          <a:blipFill>
            <a:blip r:embed="rId2"/>
            <a:stretch>
              <a:fillRect l="0" t="0" r="0" b="0"/>
            </a:stretch>
          </a:blipFill>
        </p:spPr>
      </p:sp>
      <p:sp>
        <p:nvSpPr>
          <p:cNvPr name="TextBox 6" id="6"/>
          <p:cNvSpPr txBox="true"/>
          <p:nvPr/>
        </p:nvSpPr>
        <p:spPr>
          <a:xfrm rot="0">
            <a:off x="6055273" y="381056"/>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7" id="7"/>
          <p:cNvSpPr txBox="true"/>
          <p:nvPr/>
        </p:nvSpPr>
        <p:spPr>
          <a:xfrm rot="0">
            <a:off x="6733461" y="2059356"/>
            <a:ext cx="4821079" cy="1047749"/>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Explor</a:t>
            </a:r>
            <a:r>
              <a:rPr lang="en-US" b="true" sz="3000" spc="150">
                <a:solidFill>
                  <a:srgbClr val="44AB3E"/>
                </a:solidFill>
                <a:latin typeface="Canva Sans Bold"/>
                <a:ea typeface="Canva Sans Bold"/>
                <a:cs typeface="Canva Sans Bold"/>
                <a:sym typeface="Canva Sans Bold"/>
              </a:rPr>
              <a:t>ation de données</a:t>
            </a:r>
          </a:p>
          <a:p>
            <a:pPr algn="ctr">
              <a:lnSpc>
                <a:spcPts val="4200"/>
              </a:lnSpc>
            </a:pPr>
          </a:p>
        </p:txBody>
      </p:sp>
      <p:sp>
        <p:nvSpPr>
          <p:cNvPr name="Freeform 8" id="8"/>
          <p:cNvSpPr/>
          <p:nvPr/>
        </p:nvSpPr>
        <p:spPr>
          <a:xfrm flipH="false" flipV="false" rot="-8410460">
            <a:off x="-7478500" y="-4429677"/>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3" id="3"/>
          <p:cNvSpPr txBox="true"/>
          <p:nvPr/>
        </p:nvSpPr>
        <p:spPr>
          <a:xfrm rot="0">
            <a:off x="7104301" y="2238160"/>
            <a:ext cx="4079399" cy="15811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Fu</a:t>
            </a:r>
            <a:r>
              <a:rPr lang="en-US" b="true" sz="3000" spc="150">
                <a:solidFill>
                  <a:srgbClr val="44AB3E"/>
                </a:solidFill>
                <a:latin typeface="Canva Sans Bold"/>
                <a:ea typeface="Canva Sans Bold"/>
                <a:cs typeface="Canva Sans Bold"/>
                <a:sym typeface="Canva Sans Bold"/>
              </a:rPr>
              <a:t>tures Engineering</a:t>
            </a:r>
          </a:p>
          <a:p>
            <a:pPr algn="ctr">
              <a:lnSpc>
                <a:spcPts val="4200"/>
              </a:lnSpc>
            </a:pPr>
          </a:p>
          <a:p>
            <a:pPr algn="ctr">
              <a:lnSpc>
                <a:spcPts val="4200"/>
              </a:lnSpc>
            </a:pPr>
          </a:p>
        </p:txBody>
      </p:sp>
      <p:sp>
        <p:nvSpPr>
          <p:cNvPr name="TextBox 4" id="4"/>
          <p:cNvSpPr txBox="true"/>
          <p:nvPr/>
        </p:nvSpPr>
        <p:spPr>
          <a:xfrm rot="0">
            <a:off x="1415304" y="3148507"/>
            <a:ext cx="15457392"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Cette phase de feature engineering enrichit les données brutes en intégrant des informations physiques, thermiques et mécaniques utiles pour la détection d’anomalies et le clustering.</a:t>
            </a:r>
          </a:p>
        </p:txBody>
      </p:sp>
      <p:sp>
        <p:nvSpPr>
          <p:cNvPr name="TextBox 5" id="5"/>
          <p:cNvSpPr txBox="true"/>
          <p:nvPr/>
        </p:nvSpPr>
        <p:spPr>
          <a:xfrm rot="0">
            <a:off x="1415304" y="5224957"/>
            <a:ext cx="10116613" cy="4667631"/>
          </a:xfrm>
          <a:prstGeom prst="rect">
            <a:avLst/>
          </a:prstGeom>
        </p:spPr>
        <p:txBody>
          <a:bodyPr anchor="t" rtlCol="false" tIns="0" lIns="0" bIns="0" rIns="0">
            <a:spAutoFit/>
          </a:bodyPr>
          <a:lstStyle/>
          <a:p>
            <a:pPr algn="l">
              <a:lnSpc>
                <a:spcPts val="3717"/>
              </a:lnSpc>
            </a:pPr>
            <a:r>
              <a:rPr lang="en-US" b="true" sz="2100" spc="105">
                <a:solidFill>
                  <a:srgbClr val="000000"/>
                </a:solidFill>
                <a:latin typeface="Telegraf Bold"/>
                <a:ea typeface="Telegraf Bold"/>
                <a:cs typeface="Telegraf Bold"/>
                <a:sym typeface="Telegraf Bold"/>
              </a:rPr>
              <a:t>Features physiques</a:t>
            </a:r>
          </a:p>
          <a:p>
            <a:pPr algn="l">
              <a:lnSpc>
                <a:spcPts val="3717"/>
              </a:lnSpc>
            </a:pPr>
            <a:r>
              <a:rPr lang="en-US" b="true" sz="2100" spc="105">
                <a:solidFill>
                  <a:srgbClr val="C2530E"/>
                </a:solidFill>
                <a:latin typeface="Telegraf Bold"/>
                <a:ea typeface="Telegraf Bold"/>
                <a:cs typeface="Telegraf Bold"/>
                <a:sym typeface="Telegraf Bold"/>
              </a:rPr>
              <a:t>power_kw</a:t>
            </a:r>
          </a:p>
          <a:p>
            <a:pPr algn="l" marL="453390" indent="-226695" lvl="1">
              <a:lnSpc>
                <a:spcPts val="3717"/>
              </a:lnSpc>
              <a:buFont typeface="Arial"/>
              <a:buChar char="•"/>
            </a:pPr>
            <a:r>
              <a:rPr lang="en-US" sz="2100" spc="105">
                <a:solidFill>
                  <a:srgbClr val="000000"/>
                </a:solidFill>
                <a:latin typeface="Telegraf"/>
                <a:ea typeface="Telegraf"/>
                <a:cs typeface="Telegraf"/>
                <a:sym typeface="Telegraf"/>
              </a:rPr>
              <a:t>Puissance mécanique estimée (en kW), calculée à partir du couple et de la vitesse de rotation.</a:t>
            </a:r>
          </a:p>
          <a:p>
            <a:pPr algn="l">
              <a:lnSpc>
                <a:spcPts val="3717"/>
              </a:lnSpc>
            </a:pPr>
            <a:r>
              <a:rPr lang="en-US" sz="2100" spc="105">
                <a:solidFill>
                  <a:srgbClr val="C2530E"/>
                </a:solidFill>
                <a:latin typeface="Telegraf"/>
                <a:ea typeface="Telegraf"/>
                <a:cs typeface="Telegraf"/>
                <a:sym typeface="Telegraf"/>
              </a:rPr>
              <a:t>T</a:t>
            </a:r>
            <a:r>
              <a:rPr lang="en-US" b="true" sz="2100" spc="105">
                <a:solidFill>
                  <a:srgbClr val="C2530E"/>
                </a:solidFill>
                <a:latin typeface="Telegraf Bold"/>
                <a:ea typeface="Telegraf Bold"/>
                <a:cs typeface="Telegraf Bold"/>
                <a:sym typeface="Telegraf Bold"/>
              </a:rPr>
              <a:t>emp_diff</a:t>
            </a:r>
          </a:p>
          <a:p>
            <a:pPr algn="l" marL="453390" indent="-226695" lvl="1">
              <a:lnSpc>
                <a:spcPts val="3717"/>
              </a:lnSpc>
              <a:buFont typeface="Arial"/>
              <a:buChar char="•"/>
            </a:pPr>
            <a:r>
              <a:rPr lang="en-US" sz="2100" spc="105">
                <a:solidFill>
                  <a:srgbClr val="000000"/>
                </a:solidFill>
                <a:latin typeface="Telegraf"/>
                <a:ea typeface="Telegraf"/>
                <a:cs typeface="Telegraf"/>
                <a:sym typeface="Telegraf"/>
              </a:rPr>
              <a:t>Différence entre la température du procédé et la température ambiante.</a:t>
            </a:r>
          </a:p>
          <a:p>
            <a:pPr algn="l">
              <a:lnSpc>
                <a:spcPts val="3717"/>
              </a:lnSpc>
            </a:pPr>
            <a:r>
              <a:rPr lang="en-US" b="true" sz="2100" spc="105">
                <a:solidFill>
                  <a:srgbClr val="C2530E"/>
                </a:solidFill>
                <a:latin typeface="Telegraf Bold"/>
                <a:ea typeface="Telegraf Bold"/>
                <a:cs typeface="Telegraf Bold"/>
                <a:sym typeface="Telegraf Bold"/>
              </a:rPr>
              <a:t>speed_torque_ratio</a:t>
            </a:r>
          </a:p>
          <a:p>
            <a:pPr algn="l" marL="453390" indent="-226695" lvl="1">
              <a:lnSpc>
                <a:spcPts val="3717"/>
              </a:lnSpc>
              <a:buFont typeface="Arial"/>
              <a:buChar char="•"/>
            </a:pPr>
            <a:r>
              <a:rPr lang="en-US" sz="2100" spc="105">
                <a:solidFill>
                  <a:srgbClr val="000000"/>
                </a:solidFill>
                <a:latin typeface="Telegraf"/>
                <a:ea typeface="Telegraf"/>
                <a:cs typeface="Telegraf"/>
                <a:sym typeface="Telegraf"/>
              </a:rPr>
              <a:t>Rapport entre la vitesse de rotation et le couple appliqué.</a:t>
            </a:r>
          </a:p>
          <a:p>
            <a:pPr algn="l">
              <a:lnSpc>
                <a:spcPts val="3717"/>
              </a:lnSpc>
            </a:pPr>
          </a:p>
        </p:txBody>
      </p:sp>
      <p:sp>
        <p:nvSpPr>
          <p:cNvPr name="Freeform 6" id="6"/>
          <p:cNvSpPr/>
          <p:nvPr/>
        </p:nvSpPr>
        <p:spPr>
          <a:xfrm flipH="false" flipV="false" rot="0">
            <a:off x="11531917" y="6880926"/>
            <a:ext cx="5508668" cy="2754334"/>
          </a:xfrm>
          <a:custGeom>
            <a:avLst/>
            <a:gdLst/>
            <a:ahLst/>
            <a:cxnLst/>
            <a:rect r="r" b="b" t="t" l="l"/>
            <a:pathLst>
              <a:path h="2754334" w="5508668">
                <a:moveTo>
                  <a:pt x="0" y="0"/>
                </a:moveTo>
                <a:lnTo>
                  <a:pt x="5508668" y="0"/>
                </a:lnTo>
                <a:lnTo>
                  <a:pt x="5508668" y="2754334"/>
                </a:lnTo>
                <a:lnTo>
                  <a:pt x="0" y="2754334"/>
                </a:lnTo>
                <a:lnTo>
                  <a:pt x="0" y="0"/>
                </a:lnTo>
                <a:close/>
              </a:path>
            </a:pathLst>
          </a:custGeom>
          <a:blipFill>
            <a:blip r:embed="rId2"/>
            <a:stretch>
              <a:fillRect l="0" t="0" r="0" b="0"/>
            </a:stretch>
          </a:blipFill>
        </p:spPr>
      </p:sp>
      <p:sp>
        <p:nvSpPr>
          <p:cNvPr name="Freeform 7" id="7"/>
          <p:cNvSpPr/>
          <p:nvPr/>
        </p:nvSpPr>
        <p:spPr>
          <a:xfrm flipH="false" flipV="false" rot="-8410460">
            <a:off x="-7478500" y="-4429677"/>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183699" y="6120917"/>
            <a:ext cx="5856885" cy="2928443"/>
          </a:xfrm>
          <a:custGeom>
            <a:avLst/>
            <a:gdLst/>
            <a:ahLst/>
            <a:cxnLst/>
            <a:rect r="r" b="b" t="t" l="l"/>
            <a:pathLst>
              <a:path h="2928443" w="5856885">
                <a:moveTo>
                  <a:pt x="0" y="0"/>
                </a:moveTo>
                <a:lnTo>
                  <a:pt x="5856886" y="0"/>
                </a:lnTo>
                <a:lnTo>
                  <a:pt x="5856886" y="2928443"/>
                </a:lnTo>
                <a:lnTo>
                  <a:pt x="0" y="2928443"/>
                </a:lnTo>
                <a:lnTo>
                  <a:pt x="0" y="0"/>
                </a:lnTo>
                <a:close/>
              </a:path>
            </a:pathLst>
          </a:custGeom>
          <a:blipFill>
            <a:blip r:embed="rId2"/>
            <a:stretch>
              <a:fillRect l="0" t="0" r="0" b="0"/>
            </a:stretch>
          </a:blipFill>
        </p:spPr>
      </p:sp>
      <p:sp>
        <p:nvSpPr>
          <p:cNvPr name="TextBox 3" id="3"/>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4" id="4"/>
          <p:cNvSpPr txBox="true"/>
          <p:nvPr/>
        </p:nvSpPr>
        <p:spPr>
          <a:xfrm rot="0">
            <a:off x="7104301" y="2238160"/>
            <a:ext cx="4079399" cy="15811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Fu</a:t>
            </a:r>
            <a:r>
              <a:rPr lang="en-US" b="true" sz="3000" spc="150">
                <a:solidFill>
                  <a:srgbClr val="44AB3E"/>
                </a:solidFill>
                <a:latin typeface="Canva Sans Bold"/>
                <a:ea typeface="Canva Sans Bold"/>
                <a:cs typeface="Canva Sans Bold"/>
                <a:sym typeface="Canva Sans Bold"/>
              </a:rPr>
              <a:t>tures Engineering</a:t>
            </a:r>
          </a:p>
          <a:p>
            <a:pPr algn="ctr">
              <a:lnSpc>
                <a:spcPts val="4200"/>
              </a:lnSpc>
            </a:pPr>
          </a:p>
          <a:p>
            <a:pPr algn="ctr">
              <a:lnSpc>
                <a:spcPts val="4200"/>
              </a:lnSpc>
            </a:pPr>
          </a:p>
        </p:txBody>
      </p:sp>
      <p:sp>
        <p:nvSpPr>
          <p:cNvPr name="TextBox 5" id="5"/>
          <p:cNvSpPr txBox="true"/>
          <p:nvPr/>
        </p:nvSpPr>
        <p:spPr>
          <a:xfrm rot="0">
            <a:off x="1171075" y="3046300"/>
            <a:ext cx="15869509"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Cette phase de feature engineering enrichit les données brutes en intégrant des informations physiques, thermiques et mécaniques utiles pour la détection d’anomalies et le clustering.</a:t>
            </a:r>
          </a:p>
        </p:txBody>
      </p:sp>
      <p:sp>
        <p:nvSpPr>
          <p:cNvPr name="TextBox 6" id="6"/>
          <p:cNvSpPr txBox="true"/>
          <p:nvPr/>
        </p:nvSpPr>
        <p:spPr>
          <a:xfrm rot="0">
            <a:off x="1171075" y="5901842"/>
            <a:ext cx="9768395" cy="3565399"/>
          </a:xfrm>
          <a:prstGeom prst="rect">
            <a:avLst/>
          </a:prstGeom>
        </p:spPr>
        <p:txBody>
          <a:bodyPr anchor="t" rtlCol="false" tIns="0" lIns="0" bIns="0" rIns="0">
            <a:spAutoFit/>
          </a:bodyPr>
          <a:lstStyle/>
          <a:p>
            <a:pPr algn="l">
              <a:lnSpc>
                <a:spcPts val="4760"/>
              </a:lnSpc>
            </a:pPr>
            <a:r>
              <a:rPr lang="en-US" b="true" sz="2299" spc="114">
                <a:solidFill>
                  <a:srgbClr val="000000"/>
                </a:solidFill>
                <a:latin typeface="Telegraf Bold"/>
                <a:ea typeface="Telegraf Bold"/>
                <a:cs typeface="Telegraf Bold"/>
                <a:sym typeface="Telegraf Bold"/>
              </a:rPr>
              <a:t>Features liées à l’usure</a:t>
            </a:r>
          </a:p>
          <a:p>
            <a:pPr algn="l" marL="496569" indent="-248284" lvl="1">
              <a:lnSpc>
                <a:spcPts val="4760"/>
              </a:lnSpc>
              <a:buFont typeface="Arial"/>
              <a:buChar char="•"/>
            </a:pPr>
            <a:r>
              <a:rPr lang="en-US" sz="2299" spc="114">
                <a:solidFill>
                  <a:srgbClr val="C2530E"/>
                </a:solidFill>
                <a:latin typeface="Telegraf"/>
                <a:ea typeface="Telegraf"/>
                <a:cs typeface="Telegraf"/>
                <a:sym typeface="Telegraf"/>
              </a:rPr>
              <a:t>wear_level : </a:t>
            </a:r>
            <a:r>
              <a:rPr lang="en-US" sz="2299" spc="114">
                <a:solidFill>
                  <a:srgbClr val="000000"/>
                </a:solidFill>
                <a:latin typeface="Telegraf"/>
                <a:ea typeface="Telegraf"/>
                <a:cs typeface="Telegraf"/>
                <a:sym typeface="Telegraf"/>
              </a:rPr>
              <a:t>Niveau d’usure discret (0 : faible, 1 : moyen, 2 : élevé) basé sur le temps d’usure de l’outil.</a:t>
            </a:r>
          </a:p>
          <a:p>
            <a:pPr algn="l" marL="496569" indent="-248284" lvl="1">
              <a:lnSpc>
                <a:spcPts val="4760"/>
              </a:lnSpc>
              <a:buFont typeface="Arial"/>
              <a:buChar char="•"/>
            </a:pPr>
            <a:r>
              <a:rPr lang="en-US" sz="2299" spc="114">
                <a:solidFill>
                  <a:srgbClr val="C2530E"/>
                </a:solidFill>
                <a:latin typeface="Telegraf"/>
                <a:ea typeface="Telegraf"/>
                <a:cs typeface="Telegraf"/>
                <a:sym typeface="Telegraf"/>
              </a:rPr>
              <a:t>high_wear : </a:t>
            </a:r>
            <a:r>
              <a:rPr lang="en-US" sz="2299" spc="114">
                <a:solidFill>
                  <a:srgbClr val="000000"/>
                </a:solidFill>
                <a:latin typeface="Telegraf"/>
                <a:ea typeface="Telegraf"/>
                <a:cs typeface="Telegraf"/>
                <a:sym typeface="Telegraf"/>
              </a:rPr>
              <a:t>Indicateur binaire (0/1) signalant une u</a:t>
            </a:r>
            <a:r>
              <a:rPr lang="en-US" sz="2299" spc="114">
                <a:solidFill>
                  <a:srgbClr val="000000"/>
                </a:solidFill>
                <a:latin typeface="Telegraf"/>
                <a:ea typeface="Telegraf"/>
                <a:cs typeface="Telegraf"/>
                <a:sym typeface="Telegraf"/>
              </a:rPr>
              <a:t>s</a:t>
            </a:r>
            <a:r>
              <a:rPr lang="en-US" sz="2299" spc="114">
                <a:solidFill>
                  <a:srgbClr val="000000"/>
                </a:solidFill>
                <a:latin typeface="Telegraf"/>
                <a:ea typeface="Telegraf"/>
                <a:cs typeface="Telegraf"/>
                <a:sym typeface="Telegraf"/>
              </a:rPr>
              <a:t>ure él</a:t>
            </a:r>
            <a:r>
              <a:rPr lang="en-US" sz="2299" spc="114">
                <a:solidFill>
                  <a:srgbClr val="000000"/>
                </a:solidFill>
                <a:latin typeface="Telegraf"/>
                <a:ea typeface="Telegraf"/>
                <a:cs typeface="Telegraf"/>
                <a:sym typeface="Telegraf"/>
              </a:rPr>
              <a:t>e</a:t>
            </a:r>
            <a:r>
              <a:rPr lang="en-US" sz="2299" spc="114">
                <a:solidFill>
                  <a:srgbClr val="000000"/>
                </a:solidFill>
                <a:latin typeface="Telegraf"/>
                <a:ea typeface="Telegraf"/>
                <a:cs typeface="Telegraf"/>
                <a:sym typeface="Telegraf"/>
              </a:rPr>
              <a:t>vé</a:t>
            </a:r>
            <a:r>
              <a:rPr lang="en-US" sz="2299" spc="114">
                <a:solidFill>
                  <a:srgbClr val="000000"/>
                </a:solidFill>
                <a:latin typeface="Telegraf"/>
                <a:ea typeface="Telegraf"/>
                <a:cs typeface="Telegraf"/>
                <a:sym typeface="Telegraf"/>
              </a:rPr>
              <a:t>e</a:t>
            </a:r>
            <a:r>
              <a:rPr lang="en-US" sz="2299" spc="114">
                <a:solidFill>
                  <a:srgbClr val="000000"/>
                </a:solidFill>
                <a:latin typeface="Telegraf"/>
                <a:ea typeface="Telegraf"/>
                <a:cs typeface="Telegraf"/>
                <a:sym typeface="Telegraf"/>
              </a:rPr>
              <a:t> </a:t>
            </a:r>
            <a:r>
              <a:rPr lang="en-US" sz="2299" spc="114">
                <a:solidFill>
                  <a:srgbClr val="000000"/>
                </a:solidFill>
                <a:latin typeface="Telegraf"/>
                <a:ea typeface="Telegraf"/>
                <a:cs typeface="Telegraf"/>
                <a:sym typeface="Telegraf"/>
              </a:rPr>
              <a:t>d</a:t>
            </a:r>
            <a:r>
              <a:rPr lang="en-US" sz="2299" spc="114">
                <a:solidFill>
                  <a:srgbClr val="000000"/>
                </a:solidFill>
                <a:latin typeface="Telegraf"/>
                <a:ea typeface="Telegraf"/>
                <a:cs typeface="Telegraf"/>
                <a:sym typeface="Telegraf"/>
              </a:rPr>
              <a:t>e l’</a:t>
            </a:r>
            <a:r>
              <a:rPr lang="en-US" sz="2299" spc="114">
                <a:solidFill>
                  <a:srgbClr val="000000"/>
                </a:solidFill>
                <a:latin typeface="Telegraf"/>
                <a:ea typeface="Telegraf"/>
                <a:cs typeface="Telegraf"/>
                <a:sym typeface="Telegraf"/>
              </a:rPr>
              <a:t>outi</a:t>
            </a:r>
            <a:r>
              <a:rPr lang="en-US" sz="2299" spc="114">
                <a:solidFill>
                  <a:srgbClr val="000000"/>
                </a:solidFill>
                <a:latin typeface="Telegraf"/>
                <a:ea typeface="Telegraf"/>
                <a:cs typeface="Telegraf"/>
                <a:sym typeface="Telegraf"/>
              </a:rPr>
              <a:t>l (&gt; 200 min).</a:t>
            </a:r>
          </a:p>
          <a:p>
            <a:pPr algn="l">
              <a:lnSpc>
                <a:spcPts val="4760"/>
              </a:lnSpc>
            </a:pPr>
          </a:p>
        </p:txBody>
      </p:sp>
      <p:sp>
        <p:nvSpPr>
          <p:cNvPr name="Freeform 7" id="7"/>
          <p:cNvSpPr/>
          <p:nvPr/>
        </p:nvSpPr>
        <p:spPr>
          <a:xfrm flipH="false" flipV="false" rot="-8410460">
            <a:off x="-7478500" y="-4429677"/>
            <a:ext cx="11976399" cy="7170869"/>
          </a:xfrm>
          <a:custGeom>
            <a:avLst/>
            <a:gdLst/>
            <a:ahLst/>
            <a:cxnLst/>
            <a:rect r="r" b="b" t="t" l="l"/>
            <a:pathLst>
              <a:path h="7170869" w="11976399">
                <a:moveTo>
                  <a:pt x="0" y="0"/>
                </a:moveTo>
                <a:lnTo>
                  <a:pt x="11976399" y="0"/>
                </a:lnTo>
                <a:lnTo>
                  <a:pt x="11976399" y="7170868"/>
                </a:lnTo>
                <a:lnTo>
                  <a:pt x="0" y="7170868"/>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15304" y="5143500"/>
            <a:ext cx="9289252" cy="4853634"/>
          </a:xfrm>
          <a:custGeom>
            <a:avLst/>
            <a:gdLst/>
            <a:ahLst/>
            <a:cxnLst/>
            <a:rect r="r" b="b" t="t" l="l"/>
            <a:pathLst>
              <a:path h="4853634" w="9289252">
                <a:moveTo>
                  <a:pt x="0" y="0"/>
                </a:moveTo>
                <a:lnTo>
                  <a:pt x="9289252" y="0"/>
                </a:lnTo>
                <a:lnTo>
                  <a:pt x="9289252" y="4853634"/>
                </a:lnTo>
                <a:lnTo>
                  <a:pt x="0" y="4853634"/>
                </a:lnTo>
                <a:lnTo>
                  <a:pt x="0" y="0"/>
                </a:lnTo>
                <a:close/>
              </a:path>
            </a:pathLst>
          </a:custGeom>
          <a:blipFill>
            <a:blip r:embed="rId2"/>
            <a:stretch>
              <a:fillRect l="0" t="0" r="0" b="0"/>
            </a:stretch>
          </a:blipFill>
        </p:spPr>
      </p:sp>
      <p:sp>
        <p:nvSpPr>
          <p:cNvPr name="TextBox 6" id="6"/>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7" id="7"/>
          <p:cNvSpPr txBox="true"/>
          <p:nvPr/>
        </p:nvSpPr>
        <p:spPr>
          <a:xfrm rot="0">
            <a:off x="5775880" y="2246752"/>
            <a:ext cx="7600156" cy="514350"/>
          </a:xfrm>
          <a:prstGeom prst="rect">
            <a:avLst/>
          </a:prstGeom>
        </p:spPr>
        <p:txBody>
          <a:bodyPr anchor="t" rtlCol="false" tIns="0" lIns="0" bIns="0" rIns="0">
            <a:spAutoFit/>
          </a:bodyPr>
          <a:lstStyle/>
          <a:p>
            <a:pPr algn="ctr">
              <a:lnSpc>
                <a:spcPts val="4200"/>
              </a:lnSpc>
            </a:pPr>
            <a:r>
              <a:rPr lang="en-US" b="true" sz="3000">
                <a:solidFill>
                  <a:srgbClr val="44AB3E"/>
                </a:solidFill>
                <a:latin typeface="Canva Sans Bold"/>
                <a:ea typeface="Canva Sans Bold"/>
                <a:cs typeface="Canva Sans Bold"/>
                <a:sym typeface="Canva Sans Bold"/>
              </a:rPr>
              <a:t>Entr</a:t>
            </a:r>
            <a:r>
              <a:rPr lang="en-US" b="true" sz="3000">
                <a:solidFill>
                  <a:srgbClr val="44AB3E"/>
                </a:solidFill>
                <a:latin typeface="Canva Sans Bold"/>
                <a:ea typeface="Canva Sans Bold"/>
                <a:cs typeface="Canva Sans Bold"/>
                <a:sym typeface="Canva Sans Bold"/>
              </a:rPr>
              <a:t>ainement des autoencodeurs (LSTM)</a:t>
            </a:r>
          </a:p>
        </p:txBody>
      </p:sp>
      <p:sp>
        <p:nvSpPr>
          <p:cNvPr name="TextBox 8" id="8"/>
          <p:cNvSpPr txBox="true"/>
          <p:nvPr/>
        </p:nvSpPr>
        <p:spPr>
          <a:xfrm rot="0">
            <a:off x="1415304" y="3148507"/>
            <a:ext cx="15457392"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L’</a:t>
            </a:r>
            <a:r>
              <a:rPr lang="en-US" sz="2999" spc="149">
                <a:solidFill>
                  <a:srgbClr val="000000"/>
                </a:solidFill>
                <a:latin typeface="Telegraf"/>
                <a:ea typeface="Telegraf"/>
                <a:cs typeface="Telegraf"/>
                <a:sym typeface="Telegraf"/>
              </a:rPr>
              <a:t>entraînement d’un autoencodeur LSTM consiste à apprendre le comportement normal des séries temporelles en minimisant l’erreur entre les séquences d’entrée et leur reconstruction. </a:t>
            </a:r>
          </a:p>
        </p:txBody>
      </p:sp>
      <p:sp>
        <p:nvSpPr>
          <p:cNvPr name="TextBox 9" id="9"/>
          <p:cNvSpPr txBox="true"/>
          <p:nvPr/>
        </p:nvSpPr>
        <p:spPr>
          <a:xfrm rot="0">
            <a:off x="14586732" y="5697311"/>
            <a:ext cx="2544604" cy="596899"/>
          </a:xfrm>
          <a:prstGeom prst="rect">
            <a:avLst/>
          </a:prstGeom>
        </p:spPr>
        <p:txBody>
          <a:bodyPr anchor="t" rtlCol="false" tIns="0" lIns="0" bIns="0" rIns="0">
            <a:spAutoFit/>
          </a:bodyPr>
          <a:lstStyle/>
          <a:p>
            <a:pPr algn="ctr">
              <a:lnSpc>
                <a:spcPts val="4900"/>
              </a:lnSpc>
            </a:pPr>
            <a:r>
              <a:rPr lang="en-US" b="true" sz="3500">
                <a:solidFill>
                  <a:srgbClr val="000000"/>
                </a:solidFill>
                <a:latin typeface="Canva Sans Bold"/>
                <a:ea typeface="Canva Sans Bold"/>
                <a:cs typeface="Canva Sans Bold"/>
                <a:sym typeface="Canva Sans Bold"/>
              </a:rPr>
              <a:t>Advantages</a:t>
            </a:r>
          </a:p>
        </p:txBody>
      </p:sp>
      <p:sp>
        <p:nvSpPr>
          <p:cNvPr name="TextBox 10" id="10"/>
          <p:cNvSpPr txBox="true"/>
          <p:nvPr/>
        </p:nvSpPr>
        <p:spPr>
          <a:xfrm rot="0">
            <a:off x="12232727" y="6554853"/>
            <a:ext cx="4898609" cy="2703447"/>
          </a:xfrm>
          <a:prstGeom prst="rect">
            <a:avLst/>
          </a:prstGeom>
        </p:spPr>
        <p:txBody>
          <a:bodyPr anchor="t" rtlCol="false" tIns="0" lIns="0" bIns="0" rIns="0">
            <a:spAutoFit/>
          </a:bodyPr>
          <a:lstStyle/>
          <a:p>
            <a:pPr algn="l" marL="474984" indent="-237492" lvl="1">
              <a:lnSpc>
                <a:spcPts val="4378"/>
              </a:lnSpc>
              <a:buFont typeface="Arial"/>
              <a:buChar char="•"/>
            </a:pPr>
            <a:r>
              <a:rPr lang="en-US" b="true" sz="2200" i="true">
                <a:solidFill>
                  <a:srgbClr val="FF5757"/>
                </a:solidFill>
                <a:latin typeface="Canva Sans Bold Italics"/>
                <a:ea typeface="Canva Sans Bold Italics"/>
                <a:cs typeface="Canva Sans Bold Italics"/>
                <a:sym typeface="Canva Sans Bold Italics"/>
              </a:rPr>
              <a:t>Pre</a:t>
            </a:r>
            <a:r>
              <a:rPr lang="en-US" b="true" sz="2200" i="true">
                <a:solidFill>
                  <a:srgbClr val="FF5757"/>
                </a:solidFill>
                <a:latin typeface="Canva Sans Bold Italics"/>
                <a:ea typeface="Canva Sans Bold Italics"/>
                <a:cs typeface="Canva Sans Bold Italics"/>
                <a:sym typeface="Canva Sans Bold Italics"/>
              </a:rPr>
              <a:t>nd en compte des motifs non linéaires et à long terme</a:t>
            </a:r>
          </a:p>
          <a:p>
            <a:pPr algn="l">
              <a:lnSpc>
                <a:spcPts val="4378"/>
              </a:lnSpc>
            </a:pPr>
          </a:p>
          <a:p>
            <a:pPr algn="l" marL="474984" indent="-237492" lvl="1">
              <a:lnSpc>
                <a:spcPts val="4378"/>
              </a:lnSpc>
              <a:buFont typeface="Arial"/>
              <a:buChar char="•"/>
            </a:pPr>
            <a:r>
              <a:rPr lang="en-US" b="true" sz="2200" i="true">
                <a:solidFill>
                  <a:srgbClr val="FF5757"/>
                </a:solidFill>
                <a:latin typeface="Canva Sans Bold Italics"/>
                <a:ea typeface="Canva Sans Bold Italics"/>
                <a:cs typeface="Canva Sans Bold Italics"/>
                <a:sym typeface="Canva Sans Bold Italics"/>
              </a:rPr>
              <a:t>Robuste au bruit dans les séries temporelles</a:t>
            </a:r>
          </a:p>
        </p:txBody>
      </p:sp>
      <p:sp>
        <p:nvSpPr>
          <p:cNvPr name="Freeform 11" id="11"/>
          <p:cNvSpPr/>
          <p:nvPr/>
        </p:nvSpPr>
        <p:spPr>
          <a:xfrm flipH="false" flipV="false" rot="-8410460">
            <a:off x="10482982" y="-5030701"/>
            <a:ext cx="11976399" cy="7170869"/>
          </a:xfrm>
          <a:custGeom>
            <a:avLst/>
            <a:gdLst/>
            <a:ahLst/>
            <a:cxnLst/>
            <a:rect r="r" b="b" t="t" l="l"/>
            <a:pathLst>
              <a:path h="7170869" w="11976399">
                <a:moveTo>
                  <a:pt x="0" y="0"/>
                </a:moveTo>
                <a:lnTo>
                  <a:pt x="11976398" y="0"/>
                </a:lnTo>
                <a:lnTo>
                  <a:pt x="11976398" y="7170869"/>
                </a:lnTo>
                <a:lnTo>
                  <a:pt x="0" y="7170869"/>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9418" y="3408802"/>
            <a:ext cx="8554582" cy="6668877"/>
          </a:xfrm>
          <a:custGeom>
            <a:avLst/>
            <a:gdLst/>
            <a:ahLst/>
            <a:cxnLst/>
            <a:rect r="r" b="b" t="t" l="l"/>
            <a:pathLst>
              <a:path h="6668877" w="8554582">
                <a:moveTo>
                  <a:pt x="0" y="0"/>
                </a:moveTo>
                <a:lnTo>
                  <a:pt x="8554582" y="0"/>
                </a:lnTo>
                <a:lnTo>
                  <a:pt x="8554582" y="6668878"/>
                </a:lnTo>
                <a:lnTo>
                  <a:pt x="0" y="6668878"/>
                </a:lnTo>
                <a:lnTo>
                  <a:pt x="0" y="0"/>
                </a:lnTo>
                <a:close/>
              </a:path>
            </a:pathLst>
          </a:custGeom>
          <a:blipFill>
            <a:blip r:embed="rId2"/>
            <a:stretch>
              <a:fillRect l="0" t="-388" r="0" b="-388"/>
            </a:stretch>
          </a:blipFill>
        </p:spPr>
      </p:sp>
      <p:sp>
        <p:nvSpPr>
          <p:cNvPr name="TextBox 3" id="3"/>
          <p:cNvSpPr txBox="true"/>
          <p:nvPr/>
        </p:nvSpPr>
        <p:spPr>
          <a:xfrm rot="0">
            <a:off x="5775880" y="2246752"/>
            <a:ext cx="7600156" cy="514350"/>
          </a:xfrm>
          <a:prstGeom prst="rect">
            <a:avLst/>
          </a:prstGeom>
        </p:spPr>
        <p:txBody>
          <a:bodyPr anchor="t" rtlCol="false" tIns="0" lIns="0" bIns="0" rIns="0">
            <a:spAutoFit/>
          </a:bodyPr>
          <a:lstStyle/>
          <a:p>
            <a:pPr algn="ctr">
              <a:lnSpc>
                <a:spcPts val="4200"/>
              </a:lnSpc>
            </a:pPr>
            <a:r>
              <a:rPr lang="en-US" b="true" sz="3000">
                <a:solidFill>
                  <a:srgbClr val="44AB3E"/>
                </a:solidFill>
                <a:latin typeface="Canva Sans Bold"/>
                <a:ea typeface="Canva Sans Bold"/>
                <a:cs typeface="Canva Sans Bold"/>
                <a:sym typeface="Canva Sans Bold"/>
              </a:rPr>
              <a:t>Entr</a:t>
            </a:r>
            <a:r>
              <a:rPr lang="en-US" b="true" sz="3000">
                <a:solidFill>
                  <a:srgbClr val="44AB3E"/>
                </a:solidFill>
                <a:latin typeface="Canva Sans Bold"/>
                <a:ea typeface="Canva Sans Bold"/>
                <a:cs typeface="Canva Sans Bold"/>
                <a:sym typeface="Canva Sans Bold"/>
              </a:rPr>
              <a:t>ainement des autoencodeurs (LSTM)</a:t>
            </a:r>
          </a:p>
        </p:txBody>
      </p:sp>
      <p:sp>
        <p:nvSpPr>
          <p:cNvPr name="TextBox 4" id="4"/>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5" id="5"/>
          <p:cNvSpPr txBox="true"/>
          <p:nvPr/>
        </p:nvSpPr>
        <p:spPr>
          <a:xfrm rot="0">
            <a:off x="11583096" y="5453207"/>
            <a:ext cx="6054796" cy="1963265"/>
          </a:xfrm>
          <a:prstGeom prst="rect">
            <a:avLst/>
          </a:prstGeom>
        </p:spPr>
        <p:txBody>
          <a:bodyPr anchor="t" rtlCol="false" tIns="0" lIns="0" bIns="0" rIns="0">
            <a:spAutoFit/>
          </a:bodyPr>
          <a:lstStyle/>
          <a:p>
            <a:pPr algn="just">
              <a:lnSpc>
                <a:spcPts val="3090"/>
              </a:lnSpc>
              <a:spcBef>
                <a:spcPct val="0"/>
              </a:spcBef>
            </a:pPr>
            <a:r>
              <a:rPr lang="en-US" sz="2207" spc="110">
                <a:solidFill>
                  <a:srgbClr val="000000"/>
                </a:solidFill>
                <a:latin typeface="Telegraf"/>
                <a:ea typeface="Telegraf"/>
                <a:cs typeface="Telegraf"/>
                <a:sym typeface="Telegraf"/>
              </a:rPr>
              <a:t>La</a:t>
            </a:r>
            <a:r>
              <a:rPr lang="en-US" sz="2207" spc="110">
                <a:solidFill>
                  <a:srgbClr val="000000"/>
                </a:solidFill>
                <a:latin typeface="Telegraf"/>
                <a:ea typeface="Telegraf"/>
                <a:cs typeface="Telegraf"/>
                <a:sym typeface="Telegraf"/>
              </a:rPr>
              <a:t> matrice de confusion est un tableau utilisé pour évaluer les performances d’un modèle de classification. Elle compare les prédictions du modèle avec les véritables étiquettes.</a:t>
            </a:r>
          </a:p>
        </p:txBody>
      </p:sp>
      <p:sp>
        <p:nvSpPr>
          <p:cNvPr name="AutoShape 6" id="6"/>
          <p:cNvSpPr/>
          <p:nvPr/>
        </p:nvSpPr>
        <p:spPr>
          <a:xfrm flipV="true">
            <a:off x="9144000" y="6468177"/>
            <a:ext cx="2439096" cy="275064"/>
          </a:xfrm>
          <a:prstGeom prst="line">
            <a:avLst/>
          </a:prstGeom>
          <a:ln cap="flat" w="38100">
            <a:solidFill>
              <a:srgbClr val="000000"/>
            </a:solidFill>
            <a:prstDash val="sysDot"/>
            <a:headEnd type="triangle" len="med" w="lg"/>
            <a:tailEnd type="triangle" len="med" w="lg"/>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415304" y="5763986"/>
            <a:ext cx="8965717" cy="3619908"/>
          </a:xfrm>
          <a:custGeom>
            <a:avLst/>
            <a:gdLst/>
            <a:ahLst/>
            <a:cxnLst/>
            <a:rect r="r" b="b" t="t" l="l"/>
            <a:pathLst>
              <a:path h="3619908" w="8965717">
                <a:moveTo>
                  <a:pt x="0" y="0"/>
                </a:moveTo>
                <a:lnTo>
                  <a:pt x="8965717" y="0"/>
                </a:lnTo>
                <a:lnTo>
                  <a:pt x="8965717" y="3619908"/>
                </a:lnTo>
                <a:lnTo>
                  <a:pt x="0" y="3619908"/>
                </a:lnTo>
                <a:lnTo>
                  <a:pt x="0" y="0"/>
                </a:lnTo>
                <a:close/>
              </a:path>
            </a:pathLst>
          </a:custGeom>
          <a:blipFill>
            <a:blip r:embed="rId2"/>
            <a:stretch>
              <a:fillRect l="0" t="0" r="0" b="0"/>
            </a:stretch>
          </a:blipFill>
        </p:spPr>
      </p:sp>
      <p:sp>
        <p:nvSpPr>
          <p:cNvPr name="TextBox 6" id="6"/>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7" id="7"/>
          <p:cNvSpPr txBox="true"/>
          <p:nvPr/>
        </p:nvSpPr>
        <p:spPr>
          <a:xfrm rot="0">
            <a:off x="5475525" y="2081707"/>
            <a:ext cx="7863364" cy="514350"/>
          </a:xfrm>
          <a:prstGeom prst="rect">
            <a:avLst/>
          </a:prstGeom>
        </p:spPr>
        <p:txBody>
          <a:bodyPr anchor="t" rtlCol="false" tIns="0" lIns="0" bIns="0" rIns="0">
            <a:spAutoFit/>
          </a:bodyPr>
          <a:lstStyle/>
          <a:p>
            <a:pPr algn="ctr">
              <a:lnSpc>
                <a:spcPts val="4200"/>
              </a:lnSpc>
            </a:pPr>
            <a:r>
              <a:rPr lang="en-US" b="true" sz="3000">
                <a:solidFill>
                  <a:srgbClr val="44AB3E"/>
                </a:solidFill>
                <a:latin typeface="Canva Sans Bold"/>
                <a:ea typeface="Canva Sans Bold"/>
                <a:cs typeface="Canva Sans Bold"/>
                <a:sym typeface="Canva Sans Bold"/>
              </a:rPr>
              <a:t>Entr</a:t>
            </a:r>
            <a:r>
              <a:rPr lang="en-US" b="true" sz="3000">
                <a:solidFill>
                  <a:srgbClr val="44AB3E"/>
                </a:solidFill>
                <a:latin typeface="Canva Sans Bold"/>
                <a:ea typeface="Canva Sans Bold"/>
                <a:cs typeface="Canva Sans Bold"/>
                <a:sym typeface="Canva Sans Bold"/>
              </a:rPr>
              <a:t>ainement des autoencodeurs (DENSE)</a:t>
            </a:r>
          </a:p>
        </p:txBody>
      </p:sp>
      <p:sp>
        <p:nvSpPr>
          <p:cNvPr name="TextBox 8" id="8"/>
          <p:cNvSpPr txBox="true"/>
          <p:nvPr/>
        </p:nvSpPr>
        <p:spPr>
          <a:xfrm rot="0">
            <a:off x="1415304" y="3148507"/>
            <a:ext cx="15843996"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L’</a:t>
            </a:r>
            <a:r>
              <a:rPr lang="en-US" sz="2999" spc="149">
                <a:solidFill>
                  <a:srgbClr val="000000"/>
                </a:solidFill>
                <a:latin typeface="Telegraf"/>
                <a:ea typeface="Telegraf"/>
                <a:cs typeface="Telegraf"/>
                <a:sym typeface="Telegraf"/>
              </a:rPr>
              <a:t>entraînement d’un autoencodeur Dense consiste à apprendre le comportement normal des données en minimisant l’erreur entre les entrées et leur reconstruction</a:t>
            </a:r>
          </a:p>
        </p:txBody>
      </p:sp>
      <p:sp>
        <p:nvSpPr>
          <p:cNvPr name="TextBox 9" id="9"/>
          <p:cNvSpPr txBox="true"/>
          <p:nvPr/>
        </p:nvSpPr>
        <p:spPr>
          <a:xfrm rot="0">
            <a:off x="14682032" y="5432199"/>
            <a:ext cx="2544604" cy="596899"/>
          </a:xfrm>
          <a:prstGeom prst="rect">
            <a:avLst/>
          </a:prstGeom>
        </p:spPr>
        <p:txBody>
          <a:bodyPr anchor="t" rtlCol="false" tIns="0" lIns="0" bIns="0" rIns="0">
            <a:spAutoFit/>
          </a:bodyPr>
          <a:lstStyle/>
          <a:p>
            <a:pPr algn="ctr">
              <a:lnSpc>
                <a:spcPts val="4900"/>
              </a:lnSpc>
            </a:pPr>
            <a:r>
              <a:rPr lang="en-US" b="true" sz="3500">
                <a:solidFill>
                  <a:srgbClr val="000000"/>
                </a:solidFill>
                <a:latin typeface="Canva Sans Bold"/>
                <a:ea typeface="Canva Sans Bold"/>
                <a:cs typeface="Canva Sans Bold"/>
                <a:sym typeface="Canva Sans Bold"/>
              </a:rPr>
              <a:t>Advantages</a:t>
            </a:r>
          </a:p>
        </p:txBody>
      </p:sp>
      <p:sp>
        <p:nvSpPr>
          <p:cNvPr name="TextBox 10" id="10"/>
          <p:cNvSpPr txBox="true"/>
          <p:nvPr/>
        </p:nvSpPr>
        <p:spPr>
          <a:xfrm rot="0">
            <a:off x="12054445" y="6307417"/>
            <a:ext cx="5255173" cy="3531106"/>
          </a:xfrm>
          <a:prstGeom prst="rect">
            <a:avLst/>
          </a:prstGeom>
        </p:spPr>
        <p:txBody>
          <a:bodyPr anchor="t" rtlCol="false" tIns="0" lIns="0" bIns="0" rIns="0">
            <a:spAutoFit/>
          </a:bodyPr>
          <a:lstStyle/>
          <a:p>
            <a:pPr algn="just" marL="518163" indent="-259082" lvl="1">
              <a:lnSpc>
                <a:spcPts val="4776"/>
              </a:lnSpc>
              <a:buFont typeface="Arial"/>
              <a:buChar char="•"/>
            </a:pPr>
            <a:r>
              <a:rPr lang="en-US" b="true" sz="2400" i="true">
                <a:solidFill>
                  <a:srgbClr val="FF5757"/>
                </a:solidFill>
                <a:latin typeface="Canva Sans Bold Italics"/>
                <a:ea typeface="Canva Sans Bold Italics"/>
                <a:cs typeface="Canva Sans Bold Italics"/>
                <a:sym typeface="Canva Sans Bold Italics"/>
              </a:rPr>
              <a:t>A</a:t>
            </a:r>
            <a:r>
              <a:rPr lang="en-US" b="true" sz="2400" i="true">
                <a:solidFill>
                  <a:srgbClr val="FF5757"/>
                </a:solidFill>
                <a:latin typeface="Canva Sans Bold Italics"/>
                <a:ea typeface="Canva Sans Bold Italics"/>
                <a:cs typeface="Canva Sans Bold Italics"/>
                <a:sym typeface="Canva Sans Bold Italics"/>
              </a:rPr>
              <a:t>dapté aux machines avec ressources limitées.</a:t>
            </a:r>
          </a:p>
          <a:p>
            <a:pPr algn="just">
              <a:lnSpc>
                <a:spcPts val="4776"/>
              </a:lnSpc>
            </a:pPr>
          </a:p>
          <a:p>
            <a:pPr algn="just" marL="518163" indent="-259082" lvl="1">
              <a:lnSpc>
                <a:spcPts val="4776"/>
              </a:lnSpc>
              <a:buFont typeface="Arial"/>
              <a:buChar char="•"/>
            </a:pPr>
            <a:r>
              <a:rPr lang="en-US" b="true" sz="2400" i="true">
                <a:solidFill>
                  <a:srgbClr val="FF5757"/>
                </a:solidFill>
                <a:latin typeface="Canva Sans Bold Italics"/>
                <a:ea typeface="Canva Sans Bold Italics"/>
                <a:cs typeface="Canva Sans Bold Italics"/>
                <a:sym typeface="Canva Sans Bold Italics"/>
              </a:rPr>
              <a:t>M</a:t>
            </a:r>
            <a:r>
              <a:rPr lang="en-US" b="true" sz="2400" i="true">
                <a:solidFill>
                  <a:srgbClr val="FF5757"/>
                </a:solidFill>
                <a:latin typeface="Canva Sans Bold Italics"/>
                <a:ea typeface="Canva Sans Bold Italics"/>
                <a:cs typeface="Canva Sans Bold Italics"/>
                <a:sym typeface="Canva Sans Bold Italics"/>
              </a:rPr>
              <a:t>oins sensible aux problèmes de convergence que les RNN/LSTM.</a:t>
            </a:r>
          </a:p>
        </p:txBody>
      </p:sp>
      <p:sp>
        <p:nvSpPr>
          <p:cNvPr name="Freeform 11" id="11"/>
          <p:cNvSpPr/>
          <p:nvPr/>
        </p:nvSpPr>
        <p:spPr>
          <a:xfrm flipH="false" flipV="false" rot="-2903408">
            <a:off x="11937727" y="-5704457"/>
            <a:ext cx="11976399" cy="7170869"/>
          </a:xfrm>
          <a:custGeom>
            <a:avLst/>
            <a:gdLst/>
            <a:ahLst/>
            <a:cxnLst/>
            <a:rect r="r" b="b" t="t" l="l"/>
            <a:pathLst>
              <a:path h="7170869" w="11976399">
                <a:moveTo>
                  <a:pt x="0" y="0"/>
                </a:moveTo>
                <a:lnTo>
                  <a:pt x="11976398" y="0"/>
                </a:lnTo>
                <a:lnTo>
                  <a:pt x="11976398" y="7170869"/>
                </a:lnTo>
                <a:lnTo>
                  <a:pt x="0" y="7170869"/>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3975" y="3308769"/>
            <a:ext cx="8218556" cy="6465264"/>
          </a:xfrm>
          <a:custGeom>
            <a:avLst/>
            <a:gdLst/>
            <a:ahLst/>
            <a:cxnLst/>
            <a:rect r="r" b="b" t="t" l="l"/>
            <a:pathLst>
              <a:path h="6465264" w="8218556">
                <a:moveTo>
                  <a:pt x="0" y="0"/>
                </a:moveTo>
                <a:lnTo>
                  <a:pt x="8218556" y="0"/>
                </a:lnTo>
                <a:lnTo>
                  <a:pt x="8218556" y="6465264"/>
                </a:lnTo>
                <a:lnTo>
                  <a:pt x="0" y="6465264"/>
                </a:lnTo>
                <a:lnTo>
                  <a:pt x="0" y="0"/>
                </a:lnTo>
                <a:close/>
              </a:path>
            </a:pathLst>
          </a:custGeom>
          <a:blipFill>
            <a:blip r:embed="rId2"/>
            <a:stretch>
              <a:fillRect l="0" t="0" r="0" b="0"/>
            </a:stretch>
          </a:blipFill>
        </p:spPr>
      </p:sp>
      <p:sp>
        <p:nvSpPr>
          <p:cNvPr name="TextBox 3" id="3"/>
          <p:cNvSpPr txBox="true"/>
          <p:nvPr/>
        </p:nvSpPr>
        <p:spPr>
          <a:xfrm rot="0">
            <a:off x="5475525" y="2081707"/>
            <a:ext cx="7863364" cy="514350"/>
          </a:xfrm>
          <a:prstGeom prst="rect">
            <a:avLst/>
          </a:prstGeom>
        </p:spPr>
        <p:txBody>
          <a:bodyPr anchor="t" rtlCol="false" tIns="0" lIns="0" bIns="0" rIns="0">
            <a:spAutoFit/>
          </a:bodyPr>
          <a:lstStyle/>
          <a:p>
            <a:pPr algn="ctr">
              <a:lnSpc>
                <a:spcPts val="4200"/>
              </a:lnSpc>
            </a:pPr>
            <a:r>
              <a:rPr lang="en-US" b="true" sz="3000">
                <a:solidFill>
                  <a:srgbClr val="44AB3E"/>
                </a:solidFill>
                <a:latin typeface="Canva Sans Bold"/>
                <a:ea typeface="Canva Sans Bold"/>
                <a:cs typeface="Canva Sans Bold"/>
                <a:sym typeface="Canva Sans Bold"/>
              </a:rPr>
              <a:t>Entr</a:t>
            </a:r>
            <a:r>
              <a:rPr lang="en-US" b="true" sz="3000">
                <a:solidFill>
                  <a:srgbClr val="44AB3E"/>
                </a:solidFill>
                <a:latin typeface="Canva Sans Bold"/>
                <a:ea typeface="Canva Sans Bold"/>
                <a:cs typeface="Canva Sans Bold"/>
                <a:sym typeface="Canva Sans Bold"/>
              </a:rPr>
              <a:t>ainement des autoencodeurs (DENSE)</a:t>
            </a:r>
          </a:p>
        </p:txBody>
      </p:sp>
      <p:sp>
        <p:nvSpPr>
          <p:cNvPr name="TextBox 4" id="4"/>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5" id="5"/>
          <p:cNvSpPr txBox="true"/>
          <p:nvPr/>
        </p:nvSpPr>
        <p:spPr>
          <a:xfrm rot="0">
            <a:off x="12523655" y="5073298"/>
            <a:ext cx="5143629" cy="2353798"/>
          </a:xfrm>
          <a:prstGeom prst="rect">
            <a:avLst/>
          </a:prstGeom>
        </p:spPr>
        <p:txBody>
          <a:bodyPr anchor="t" rtlCol="false" tIns="0" lIns="0" bIns="0" rIns="0">
            <a:spAutoFit/>
          </a:bodyPr>
          <a:lstStyle/>
          <a:p>
            <a:pPr algn="just">
              <a:lnSpc>
                <a:spcPts val="3090"/>
              </a:lnSpc>
              <a:spcBef>
                <a:spcPct val="0"/>
              </a:spcBef>
            </a:pPr>
            <a:r>
              <a:rPr lang="en-US" sz="2207" spc="110">
                <a:solidFill>
                  <a:srgbClr val="000000"/>
                </a:solidFill>
                <a:latin typeface="Telegraf"/>
                <a:ea typeface="Telegraf"/>
                <a:cs typeface="Telegraf"/>
                <a:sym typeface="Telegraf"/>
              </a:rPr>
              <a:t>La</a:t>
            </a:r>
            <a:r>
              <a:rPr lang="en-US" sz="2207" spc="110">
                <a:solidFill>
                  <a:srgbClr val="000000"/>
                </a:solidFill>
                <a:latin typeface="Telegraf"/>
                <a:ea typeface="Telegraf"/>
                <a:cs typeface="Telegraf"/>
                <a:sym typeface="Telegraf"/>
              </a:rPr>
              <a:t> matrice de confusion est un tableau utilisé pour évaluer les performances d’un modèle de classification. Elle compare les prédictions du modèle avec les véritables étiquettes.</a:t>
            </a:r>
          </a:p>
        </p:txBody>
      </p:sp>
      <p:sp>
        <p:nvSpPr>
          <p:cNvPr name="AutoShape 6" id="6"/>
          <p:cNvSpPr/>
          <p:nvPr/>
        </p:nvSpPr>
        <p:spPr>
          <a:xfrm flipV="true">
            <a:off x="8672531" y="6283534"/>
            <a:ext cx="3851124" cy="257866"/>
          </a:xfrm>
          <a:prstGeom prst="line">
            <a:avLst/>
          </a:prstGeom>
          <a:ln cap="flat" w="38100">
            <a:solidFill>
              <a:srgbClr val="000000"/>
            </a:solidFill>
            <a:prstDash val="sysDot"/>
            <a:headEnd type="triangle" len="med" w="lg"/>
            <a:tailEnd type="triangle" len="med" w="lg"/>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pPr>
            </a:p>
            <a:p>
              <a:pPr algn="ctr">
                <a:lnSpc>
                  <a:spcPts val="2659"/>
                </a:lnSpc>
                <a:spcBef>
                  <a:spcPct val="0"/>
                </a:spcBef>
              </a:pPr>
            </a:p>
          </p:txBody>
        </p:sp>
      </p:grpSp>
      <p:sp>
        <p:nvSpPr>
          <p:cNvPr name="Freeform 5" id="5"/>
          <p:cNvSpPr/>
          <p:nvPr/>
        </p:nvSpPr>
        <p:spPr>
          <a:xfrm flipH="false" flipV="false" rot="0">
            <a:off x="4904386" y="4878883"/>
            <a:ext cx="8479228" cy="5871866"/>
          </a:xfrm>
          <a:custGeom>
            <a:avLst/>
            <a:gdLst/>
            <a:ahLst/>
            <a:cxnLst/>
            <a:rect r="r" b="b" t="t" l="l"/>
            <a:pathLst>
              <a:path h="5871866" w="8479228">
                <a:moveTo>
                  <a:pt x="0" y="0"/>
                </a:moveTo>
                <a:lnTo>
                  <a:pt x="8479228" y="0"/>
                </a:lnTo>
                <a:lnTo>
                  <a:pt x="8479228" y="5871865"/>
                </a:lnTo>
                <a:lnTo>
                  <a:pt x="0" y="5871865"/>
                </a:lnTo>
                <a:lnTo>
                  <a:pt x="0" y="0"/>
                </a:lnTo>
                <a:close/>
              </a:path>
            </a:pathLst>
          </a:custGeom>
          <a:blipFill>
            <a:blip r:embed="rId2"/>
            <a:stretch>
              <a:fillRect l="0" t="0" r="0" b="0"/>
            </a:stretch>
          </a:blipFill>
        </p:spPr>
      </p:sp>
      <p:sp>
        <p:nvSpPr>
          <p:cNvPr name="TextBox 6" id="6"/>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7" id="7"/>
          <p:cNvSpPr txBox="true"/>
          <p:nvPr/>
        </p:nvSpPr>
        <p:spPr>
          <a:xfrm rot="0">
            <a:off x="5945592" y="2089594"/>
            <a:ext cx="6287135" cy="10477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Clus</a:t>
            </a:r>
            <a:r>
              <a:rPr lang="en-US" b="true" sz="3000" spc="150">
                <a:solidFill>
                  <a:srgbClr val="44AB3E"/>
                </a:solidFill>
                <a:latin typeface="Canva Sans Bold"/>
                <a:ea typeface="Canva Sans Bold"/>
                <a:cs typeface="Canva Sans Bold"/>
                <a:sym typeface="Canva Sans Bold"/>
              </a:rPr>
              <a:t>tering dans l’espace latent</a:t>
            </a:r>
          </a:p>
          <a:p>
            <a:pPr algn="ctr">
              <a:lnSpc>
                <a:spcPts val="4200"/>
              </a:lnSpc>
            </a:pPr>
          </a:p>
        </p:txBody>
      </p:sp>
      <p:sp>
        <p:nvSpPr>
          <p:cNvPr name="TextBox 8" id="8"/>
          <p:cNvSpPr txBox="true"/>
          <p:nvPr/>
        </p:nvSpPr>
        <p:spPr>
          <a:xfrm rot="0">
            <a:off x="1415304" y="3129457"/>
            <a:ext cx="15457392" cy="1263651"/>
          </a:xfrm>
          <a:prstGeom prst="rect">
            <a:avLst/>
          </a:prstGeom>
        </p:spPr>
        <p:txBody>
          <a:bodyPr anchor="t" rtlCol="false" tIns="0" lIns="0" bIns="0" rIns="0">
            <a:spAutoFit/>
          </a:bodyPr>
          <a:lstStyle/>
          <a:p>
            <a:pPr algn="just">
              <a:lnSpc>
                <a:spcPts val="4899"/>
              </a:lnSpc>
              <a:spcBef>
                <a:spcPct val="0"/>
              </a:spcBef>
            </a:pPr>
            <a:r>
              <a:rPr lang="en-US" sz="3499" spc="174">
                <a:solidFill>
                  <a:srgbClr val="000000"/>
                </a:solidFill>
                <a:latin typeface="Telegraf"/>
                <a:ea typeface="Telegraf"/>
                <a:cs typeface="Telegraf"/>
                <a:sym typeface="Telegraf"/>
              </a:rPr>
              <a:t>L</a:t>
            </a:r>
            <a:r>
              <a:rPr lang="en-US" sz="3499" spc="174">
                <a:solidFill>
                  <a:srgbClr val="000000"/>
                </a:solidFill>
                <a:latin typeface="Telegraf"/>
                <a:ea typeface="Telegraf"/>
                <a:cs typeface="Telegraf"/>
                <a:sym typeface="Telegraf"/>
              </a:rPr>
              <a:t>e clustering dans l’espace latent consiste à regrouper les données à partir des représentations compactes apprises par l’autoencodeur</a:t>
            </a:r>
          </a:p>
        </p:txBody>
      </p:sp>
      <p:sp>
        <p:nvSpPr>
          <p:cNvPr name="Freeform 9" id="9"/>
          <p:cNvSpPr/>
          <p:nvPr/>
        </p:nvSpPr>
        <p:spPr>
          <a:xfrm flipH="false" flipV="false" rot="-8410460">
            <a:off x="-6420370" y="-4752995"/>
            <a:ext cx="11976399" cy="7170869"/>
          </a:xfrm>
          <a:custGeom>
            <a:avLst/>
            <a:gdLst/>
            <a:ahLst/>
            <a:cxnLst/>
            <a:rect r="r" b="b" t="t" l="l"/>
            <a:pathLst>
              <a:path h="7170869" w="11976399">
                <a:moveTo>
                  <a:pt x="0" y="0"/>
                </a:moveTo>
                <a:lnTo>
                  <a:pt x="11976398" y="0"/>
                </a:lnTo>
                <a:lnTo>
                  <a:pt x="11976398" y="7170869"/>
                </a:lnTo>
                <a:lnTo>
                  <a:pt x="0" y="7170869"/>
                </a:lnTo>
                <a:lnTo>
                  <a:pt x="0" y="0"/>
                </a:lnTo>
                <a:close/>
              </a:path>
            </a:pathLst>
          </a:custGeom>
          <a:blipFill>
            <a:blip r:embed="rId3"/>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22002" y="5855053"/>
            <a:ext cx="7499085" cy="4218235"/>
          </a:xfrm>
          <a:custGeom>
            <a:avLst/>
            <a:gdLst/>
            <a:ahLst/>
            <a:cxnLst/>
            <a:rect r="r" b="b" t="t" l="l"/>
            <a:pathLst>
              <a:path h="4218235" w="7499085">
                <a:moveTo>
                  <a:pt x="0" y="0"/>
                </a:moveTo>
                <a:lnTo>
                  <a:pt x="7499085" y="0"/>
                </a:lnTo>
                <a:lnTo>
                  <a:pt x="7499085" y="4218236"/>
                </a:lnTo>
                <a:lnTo>
                  <a:pt x="0" y="4218236"/>
                </a:lnTo>
                <a:lnTo>
                  <a:pt x="0" y="0"/>
                </a:lnTo>
                <a:close/>
              </a:path>
            </a:pathLst>
          </a:custGeom>
          <a:blipFill>
            <a:blip r:embed="rId2"/>
            <a:stretch>
              <a:fillRect l="0" t="0" r="0" b="0"/>
            </a:stretch>
          </a:blipFill>
        </p:spPr>
      </p:sp>
      <p:sp>
        <p:nvSpPr>
          <p:cNvPr name="Freeform 6" id="6"/>
          <p:cNvSpPr/>
          <p:nvPr/>
        </p:nvSpPr>
        <p:spPr>
          <a:xfrm flipH="false" flipV="false" rot="0">
            <a:off x="12098538" y="6182146"/>
            <a:ext cx="4967460" cy="3564050"/>
          </a:xfrm>
          <a:custGeom>
            <a:avLst/>
            <a:gdLst/>
            <a:ahLst/>
            <a:cxnLst/>
            <a:rect r="r" b="b" t="t" l="l"/>
            <a:pathLst>
              <a:path h="3564050" w="4967460">
                <a:moveTo>
                  <a:pt x="0" y="0"/>
                </a:moveTo>
                <a:lnTo>
                  <a:pt x="4967460" y="0"/>
                </a:lnTo>
                <a:lnTo>
                  <a:pt x="4967460" y="3564050"/>
                </a:lnTo>
                <a:lnTo>
                  <a:pt x="0" y="3564050"/>
                </a:lnTo>
                <a:lnTo>
                  <a:pt x="0" y="0"/>
                </a:lnTo>
                <a:close/>
              </a:path>
            </a:pathLst>
          </a:custGeom>
          <a:blipFill>
            <a:blip r:embed="rId3"/>
            <a:stretch>
              <a:fillRect l="-2645" t="0" r="-38729" b="0"/>
            </a:stretch>
          </a:blipFill>
        </p:spPr>
      </p:sp>
      <p:sp>
        <p:nvSpPr>
          <p:cNvPr name="AutoShape 7" id="7"/>
          <p:cNvSpPr/>
          <p:nvPr/>
        </p:nvSpPr>
        <p:spPr>
          <a:xfrm>
            <a:off x="8698444" y="7964171"/>
            <a:ext cx="3400094" cy="0"/>
          </a:xfrm>
          <a:prstGeom prst="line">
            <a:avLst/>
          </a:prstGeom>
          <a:ln cap="flat" w="38100">
            <a:solidFill>
              <a:srgbClr val="000000"/>
            </a:solidFill>
            <a:prstDash val="sysDot"/>
            <a:headEnd type="triangle" len="med" w="lg"/>
            <a:tailEnd type="triangle" len="med" w="lg"/>
          </a:ln>
        </p:spPr>
      </p:sp>
      <p:pic>
        <p:nvPicPr>
          <p:cNvPr name="Picture 8" id="8"/>
          <p:cNvPicPr>
            <a:picLocks noChangeAspect="true"/>
          </p:cNvPicPr>
          <p:nvPr/>
        </p:nvPicPr>
        <p:blipFill>
          <a:blip r:embed="rId4"/>
          <a:stretch>
            <a:fillRect/>
          </a:stretch>
        </p:blipFill>
        <p:spPr>
          <a:xfrm rot="2001935">
            <a:off x="9136570" y="6091206"/>
            <a:ext cx="2332973" cy="1651433"/>
          </a:xfrm>
          <a:prstGeom prst="rect">
            <a:avLst/>
          </a:prstGeom>
        </p:spPr>
      </p:pic>
      <p:sp>
        <p:nvSpPr>
          <p:cNvPr name="TextBox 9" id="9"/>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10" id="10"/>
          <p:cNvSpPr txBox="true"/>
          <p:nvPr/>
        </p:nvSpPr>
        <p:spPr>
          <a:xfrm rot="0">
            <a:off x="7017782" y="1963524"/>
            <a:ext cx="4252436" cy="10477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Méthodes classiqu</a:t>
            </a:r>
            <a:r>
              <a:rPr lang="en-US" b="true" sz="3000" spc="150">
                <a:solidFill>
                  <a:srgbClr val="44AB3E"/>
                </a:solidFill>
                <a:latin typeface="Canva Sans Bold"/>
                <a:ea typeface="Canva Sans Bold"/>
                <a:cs typeface="Canva Sans Bold"/>
                <a:sym typeface="Canva Sans Bold"/>
              </a:rPr>
              <a:t>es</a:t>
            </a:r>
          </a:p>
          <a:p>
            <a:pPr algn="ctr">
              <a:lnSpc>
                <a:spcPts val="4200"/>
              </a:lnSpc>
            </a:pPr>
          </a:p>
        </p:txBody>
      </p:sp>
      <p:sp>
        <p:nvSpPr>
          <p:cNvPr name="TextBox 11" id="11"/>
          <p:cNvSpPr txBox="true"/>
          <p:nvPr/>
        </p:nvSpPr>
        <p:spPr>
          <a:xfrm rot="0">
            <a:off x="1222002" y="2954124"/>
            <a:ext cx="2255557" cy="476215"/>
          </a:xfrm>
          <a:prstGeom prst="rect">
            <a:avLst/>
          </a:prstGeom>
        </p:spPr>
        <p:txBody>
          <a:bodyPr anchor="t" rtlCol="false" tIns="0" lIns="0" bIns="0" rIns="0">
            <a:spAutoFit/>
          </a:bodyPr>
          <a:lstStyle/>
          <a:p>
            <a:pPr algn="ctr">
              <a:lnSpc>
                <a:spcPts val="3870"/>
              </a:lnSpc>
              <a:spcBef>
                <a:spcPct val="0"/>
              </a:spcBef>
            </a:pPr>
            <a:r>
              <a:rPr lang="en-US" sz="2764" spc="-38">
                <a:solidFill>
                  <a:srgbClr val="000000"/>
                </a:solidFill>
                <a:latin typeface="Norwester"/>
                <a:ea typeface="Norwester"/>
                <a:cs typeface="Norwester"/>
                <a:sym typeface="Norwester"/>
              </a:rPr>
              <a:t>ISOLATION FORES</a:t>
            </a:r>
          </a:p>
        </p:txBody>
      </p:sp>
      <p:sp>
        <p:nvSpPr>
          <p:cNvPr name="TextBox 12" id="12"/>
          <p:cNvSpPr txBox="true"/>
          <p:nvPr/>
        </p:nvSpPr>
        <p:spPr>
          <a:xfrm rot="0">
            <a:off x="1222002" y="3697039"/>
            <a:ext cx="15843996"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co</a:t>
            </a:r>
            <a:r>
              <a:rPr lang="en-US" sz="2999" spc="149">
                <a:solidFill>
                  <a:srgbClr val="000000"/>
                </a:solidFill>
                <a:latin typeface="Telegraf"/>
                <a:ea typeface="Telegraf"/>
                <a:cs typeface="Telegraf"/>
                <a:sym typeface="Telegraf"/>
              </a:rPr>
              <a:t>nsiste à détecter les anomalies en construisant des arbres de décision aléatoires qui isolent rapidement les observations rares, car les points anormaux nécessitent moins de partitions que les points normaux.</a:t>
            </a:r>
          </a:p>
        </p:txBody>
      </p:sp>
      <p:sp>
        <p:nvSpPr>
          <p:cNvPr name="Freeform 13" id="13"/>
          <p:cNvSpPr/>
          <p:nvPr/>
        </p:nvSpPr>
        <p:spPr>
          <a:xfrm flipH="false" flipV="false" rot="-2790845">
            <a:off x="12836200" y="-3403585"/>
            <a:ext cx="9844949" cy="5894663"/>
          </a:xfrm>
          <a:custGeom>
            <a:avLst/>
            <a:gdLst/>
            <a:ahLst/>
            <a:cxnLst/>
            <a:rect r="r" b="b" t="t" l="l"/>
            <a:pathLst>
              <a:path h="5894663" w="9844949">
                <a:moveTo>
                  <a:pt x="0" y="0"/>
                </a:moveTo>
                <a:lnTo>
                  <a:pt x="9844948" y="0"/>
                </a:lnTo>
                <a:lnTo>
                  <a:pt x="9844948" y="5894663"/>
                </a:lnTo>
                <a:lnTo>
                  <a:pt x="0" y="5894663"/>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2002" y="6014402"/>
            <a:ext cx="5186137" cy="4071117"/>
          </a:xfrm>
          <a:custGeom>
            <a:avLst/>
            <a:gdLst/>
            <a:ahLst/>
            <a:cxnLst/>
            <a:rect r="r" b="b" t="t" l="l"/>
            <a:pathLst>
              <a:path h="4071117" w="5186137">
                <a:moveTo>
                  <a:pt x="0" y="0"/>
                </a:moveTo>
                <a:lnTo>
                  <a:pt x="5186137" y="0"/>
                </a:lnTo>
                <a:lnTo>
                  <a:pt x="5186137" y="4071117"/>
                </a:lnTo>
                <a:lnTo>
                  <a:pt x="0" y="4071117"/>
                </a:lnTo>
                <a:lnTo>
                  <a:pt x="0" y="0"/>
                </a:lnTo>
                <a:close/>
              </a:path>
            </a:pathLst>
          </a:custGeom>
          <a:blipFill>
            <a:blip r:embed="rId2"/>
            <a:stretch>
              <a:fillRect l="0" t="0" r="0" b="0"/>
            </a:stretch>
          </a:blipFill>
        </p:spPr>
      </p:sp>
      <p:sp>
        <p:nvSpPr>
          <p:cNvPr name="Freeform 3" id="3"/>
          <p:cNvSpPr/>
          <p:nvPr/>
        </p:nvSpPr>
        <p:spPr>
          <a:xfrm flipH="false" flipV="false" rot="0">
            <a:off x="9767867" y="5883033"/>
            <a:ext cx="7298131" cy="4202486"/>
          </a:xfrm>
          <a:custGeom>
            <a:avLst/>
            <a:gdLst/>
            <a:ahLst/>
            <a:cxnLst/>
            <a:rect r="r" b="b" t="t" l="l"/>
            <a:pathLst>
              <a:path h="4202486" w="7298131">
                <a:moveTo>
                  <a:pt x="0" y="0"/>
                </a:moveTo>
                <a:lnTo>
                  <a:pt x="7298131" y="0"/>
                </a:lnTo>
                <a:lnTo>
                  <a:pt x="7298131" y="4202486"/>
                </a:lnTo>
                <a:lnTo>
                  <a:pt x="0" y="4202486"/>
                </a:lnTo>
                <a:lnTo>
                  <a:pt x="0" y="0"/>
                </a:lnTo>
                <a:close/>
              </a:path>
            </a:pathLst>
          </a:custGeom>
          <a:blipFill>
            <a:blip r:embed="rId3"/>
            <a:stretch>
              <a:fillRect l="0" t="0" r="-41742" b="0"/>
            </a:stretch>
          </a:blipFill>
        </p:spPr>
      </p:sp>
      <p:sp>
        <p:nvSpPr>
          <p:cNvPr name="TextBox 4" id="4"/>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5" id="5"/>
          <p:cNvSpPr txBox="true"/>
          <p:nvPr/>
        </p:nvSpPr>
        <p:spPr>
          <a:xfrm rot="0">
            <a:off x="7017782" y="1963524"/>
            <a:ext cx="4252436" cy="10477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Méthodes classiqu</a:t>
            </a:r>
            <a:r>
              <a:rPr lang="en-US" b="true" sz="3000" spc="150">
                <a:solidFill>
                  <a:srgbClr val="44AB3E"/>
                </a:solidFill>
                <a:latin typeface="Canva Sans Bold"/>
                <a:ea typeface="Canva Sans Bold"/>
                <a:cs typeface="Canva Sans Bold"/>
                <a:sym typeface="Canva Sans Bold"/>
              </a:rPr>
              <a:t>es</a:t>
            </a:r>
          </a:p>
          <a:p>
            <a:pPr algn="ctr">
              <a:lnSpc>
                <a:spcPts val="4200"/>
              </a:lnSpc>
            </a:pPr>
          </a:p>
        </p:txBody>
      </p:sp>
      <p:sp>
        <p:nvSpPr>
          <p:cNvPr name="TextBox 6" id="6"/>
          <p:cNvSpPr txBox="true"/>
          <p:nvPr/>
        </p:nvSpPr>
        <p:spPr>
          <a:xfrm rot="0">
            <a:off x="1222002" y="2954124"/>
            <a:ext cx="2152670" cy="476215"/>
          </a:xfrm>
          <a:prstGeom prst="rect">
            <a:avLst/>
          </a:prstGeom>
        </p:spPr>
        <p:txBody>
          <a:bodyPr anchor="t" rtlCol="false" tIns="0" lIns="0" bIns="0" rIns="0">
            <a:spAutoFit/>
          </a:bodyPr>
          <a:lstStyle/>
          <a:p>
            <a:pPr algn="ctr">
              <a:lnSpc>
                <a:spcPts val="3870"/>
              </a:lnSpc>
              <a:spcBef>
                <a:spcPct val="0"/>
              </a:spcBef>
            </a:pPr>
            <a:r>
              <a:rPr lang="en-US" sz="2764" spc="-38">
                <a:solidFill>
                  <a:srgbClr val="000000"/>
                </a:solidFill>
                <a:latin typeface="Norwester"/>
                <a:ea typeface="Norwester"/>
                <a:cs typeface="Norwester"/>
                <a:sym typeface="Norwester"/>
              </a:rPr>
              <a:t>O</a:t>
            </a:r>
            <a:r>
              <a:rPr lang="en-US" sz="2764" spc="-38">
                <a:solidFill>
                  <a:srgbClr val="000000"/>
                </a:solidFill>
                <a:latin typeface="Norwester"/>
                <a:ea typeface="Norwester"/>
                <a:cs typeface="Norwester"/>
                <a:sym typeface="Norwester"/>
              </a:rPr>
              <a:t>NE-CLASS SVM</a:t>
            </a:r>
          </a:p>
        </p:txBody>
      </p:sp>
      <p:sp>
        <p:nvSpPr>
          <p:cNvPr name="TextBox 7" id="7"/>
          <p:cNvSpPr txBox="true"/>
          <p:nvPr/>
        </p:nvSpPr>
        <p:spPr>
          <a:xfrm rot="0">
            <a:off x="1222002" y="3697039"/>
            <a:ext cx="15843996"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Co</a:t>
            </a:r>
            <a:r>
              <a:rPr lang="en-US" sz="2999" spc="149">
                <a:solidFill>
                  <a:srgbClr val="000000"/>
                </a:solidFill>
                <a:latin typeface="Telegraf"/>
                <a:ea typeface="Telegraf"/>
                <a:cs typeface="Telegraf"/>
                <a:sym typeface="Telegraf"/>
              </a:rPr>
              <a:t>nsiste à apprendre une frontière dans l’espace des features qui englobe les données normales, et à considérer comme anomalies toutes les observations situées en dehors de cette frontière.</a:t>
            </a:r>
          </a:p>
        </p:txBody>
      </p:sp>
      <p:sp>
        <p:nvSpPr>
          <p:cNvPr name="AutoShape 8" id="8"/>
          <p:cNvSpPr/>
          <p:nvPr/>
        </p:nvSpPr>
        <p:spPr>
          <a:xfrm flipV="true">
            <a:off x="6434063" y="6145732"/>
            <a:ext cx="3333805" cy="3746092"/>
          </a:xfrm>
          <a:prstGeom prst="line">
            <a:avLst/>
          </a:prstGeom>
          <a:ln cap="flat" w="38100">
            <a:solidFill>
              <a:srgbClr val="000000"/>
            </a:solidFill>
            <a:prstDash val="sysDot"/>
            <a:headEnd type="triangle" len="med" w="lg"/>
            <a:tailEnd type="triangle" len="med" w="lg"/>
          </a:ln>
        </p:spPr>
      </p:sp>
      <p:sp>
        <p:nvSpPr>
          <p:cNvPr name="Freeform 9" id="9"/>
          <p:cNvSpPr/>
          <p:nvPr/>
        </p:nvSpPr>
        <p:spPr>
          <a:xfrm flipH="false" flipV="false" rot="-8410460">
            <a:off x="-6828149" y="-4886486"/>
            <a:ext cx="11976399" cy="7170869"/>
          </a:xfrm>
          <a:custGeom>
            <a:avLst/>
            <a:gdLst/>
            <a:ahLst/>
            <a:cxnLst/>
            <a:rect r="r" b="b" t="t" l="l"/>
            <a:pathLst>
              <a:path h="7170869" w="11976399">
                <a:moveTo>
                  <a:pt x="0" y="0"/>
                </a:moveTo>
                <a:lnTo>
                  <a:pt x="11976399" y="0"/>
                </a:lnTo>
                <a:lnTo>
                  <a:pt x="11976399" y="7170869"/>
                </a:lnTo>
                <a:lnTo>
                  <a:pt x="0" y="7170869"/>
                </a:lnTo>
                <a:lnTo>
                  <a:pt x="0" y="0"/>
                </a:lnTo>
                <a:close/>
              </a:path>
            </a:pathLst>
          </a:custGeom>
          <a:blipFill>
            <a:blip r:embed="rId4"/>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649665"/>
            <a:ext cx="5795780" cy="4626560"/>
          </a:xfrm>
          <a:custGeom>
            <a:avLst/>
            <a:gdLst/>
            <a:ahLst/>
            <a:cxnLst/>
            <a:rect r="r" b="b" t="t" l="l"/>
            <a:pathLst>
              <a:path h="4626560" w="5795780">
                <a:moveTo>
                  <a:pt x="0" y="0"/>
                </a:moveTo>
                <a:lnTo>
                  <a:pt x="5795780" y="0"/>
                </a:lnTo>
                <a:lnTo>
                  <a:pt x="5795780" y="4626560"/>
                </a:lnTo>
                <a:lnTo>
                  <a:pt x="0" y="4626560"/>
                </a:lnTo>
                <a:lnTo>
                  <a:pt x="0" y="0"/>
                </a:lnTo>
                <a:close/>
              </a:path>
            </a:pathLst>
          </a:custGeom>
          <a:blipFill>
            <a:blip r:embed="rId2"/>
            <a:stretch>
              <a:fillRect l="-6435" t="0" r="0" b="0"/>
            </a:stretch>
          </a:blipFill>
        </p:spPr>
      </p:sp>
      <p:sp>
        <p:nvSpPr>
          <p:cNvPr name="Freeform 3" id="3"/>
          <p:cNvSpPr/>
          <p:nvPr/>
        </p:nvSpPr>
        <p:spPr>
          <a:xfrm flipH="false" flipV="false" rot="0">
            <a:off x="8755897" y="6068765"/>
            <a:ext cx="8310101" cy="3789028"/>
          </a:xfrm>
          <a:custGeom>
            <a:avLst/>
            <a:gdLst/>
            <a:ahLst/>
            <a:cxnLst/>
            <a:rect r="r" b="b" t="t" l="l"/>
            <a:pathLst>
              <a:path h="3789028" w="8310101">
                <a:moveTo>
                  <a:pt x="0" y="0"/>
                </a:moveTo>
                <a:lnTo>
                  <a:pt x="8310101" y="0"/>
                </a:lnTo>
                <a:lnTo>
                  <a:pt x="8310101" y="3789027"/>
                </a:lnTo>
                <a:lnTo>
                  <a:pt x="0" y="3789027"/>
                </a:lnTo>
                <a:lnTo>
                  <a:pt x="0" y="0"/>
                </a:lnTo>
                <a:close/>
              </a:path>
            </a:pathLst>
          </a:custGeom>
          <a:blipFill>
            <a:blip r:embed="rId3"/>
            <a:stretch>
              <a:fillRect l="0" t="0" r="-25780" b="0"/>
            </a:stretch>
          </a:blipFill>
        </p:spPr>
      </p:sp>
      <p:grpSp>
        <p:nvGrpSpPr>
          <p:cNvPr name="Group 4" id="4"/>
          <p:cNvGrpSpPr/>
          <p:nvPr/>
        </p:nvGrpSpPr>
        <p:grpSpPr>
          <a:xfrm rot="0">
            <a:off x="6252043" y="7421315"/>
            <a:ext cx="2503854" cy="1499385"/>
            <a:chOff x="0" y="0"/>
            <a:chExt cx="763488" cy="457200"/>
          </a:xfrm>
        </p:grpSpPr>
        <p:sp>
          <p:nvSpPr>
            <p:cNvPr name="Freeform 5" id="5"/>
            <p:cNvSpPr/>
            <p:nvPr/>
          </p:nvSpPr>
          <p:spPr>
            <a:xfrm flipH="false" flipV="false" rot="0">
              <a:off x="0" y="0"/>
              <a:ext cx="763488" cy="457200"/>
            </a:xfrm>
            <a:custGeom>
              <a:avLst/>
              <a:gdLst/>
              <a:ahLst/>
              <a:cxnLst/>
              <a:rect r="r" b="b" t="t" l="l"/>
              <a:pathLst>
                <a:path h="457200" w="763488">
                  <a:moveTo>
                    <a:pt x="763488" y="228606"/>
                  </a:moveTo>
                  <a:lnTo>
                    <a:pt x="503521" y="457200"/>
                  </a:lnTo>
                  <a:lnTo>
                    <a:pt x="519279" y="332453"/>
                  </a:lnTo>
                  <a:lnTo>
                    <a:pt x="244208" y="332453"/>
                  </a:lnTo>
                  <a:lnTo>
                    <a:pt x="259966" y="457200"/>
                  </a:lnTo>
                  <a:lnTo>
                    <a:pt x="0" y="228606"/>
                  </a:lnTo>
                  <a:lnTo>
                    <a:pt x="259966" y="0"/>
                  </a:lnTo>
                  <a:lnTo>
                    <a:pt x="244196" y="124785"/>
                  </a:lnTo>
                  <a:lnTo>
                    <a:pt x="519292" y="124785"/>
                  </a:lnTo>
                  <a:lnTo>
                    <a:pt x="503521" y="0"/>
                  </a:lnTo>
                  <a:lnTo>
                    <a:pt x="763488" y="228606"/>
                  </a:lnTo>
                  <a:close/>
                </a:path>
              </a:pathLst>
            </a:custGeom>
            <a:solidFill>
              <a:srgbClr val="8BD4BE"/>
            </a:solidFill>
          </p:spPr>
        </p:sp>
        <p:sp>
          <p:nvSpPr>
            <p:cNvPr name="TextBox 6" id="6"/>
            <p:cNvSpPr txBox="true"/>
            <p:nvPr/>
          </p:nvSpPr>
          <p:spPr>
            <a:xfrm>
              <a:off x="114300" y="88900"/>
              <a:ext cx="534888" cy="2413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8" id="8"/>
          <p:cNvSpPr txBox="true"/>
          <p:nvPr/>
        </p:nvSpPr>
        <p:spPr>
          <a:xfrm rot="0">
            <a:off x="7017782" y="1963524"/>
            <a:ext cx="4252436" cy="1047750"/>
          </a:xfrm>
          <a:prstGeom prst="rect">
            <a:avLst/>
          </a:prstGeom>
        </p:spPr>
        <p:txBody>
          <a:bodyPr anchor="t" rtlCol="false" tIns="0" lIns="0" bIns="0" rIns="0">
            <a:spAutoFit/>
          </a:bodyPr>
          <a:lstStyle/>
          <a:p>
            <a:pPr algn="ctr">
              <a:lnSpc>
                <a:spcPts val="4200"/>
              </a:lnSpc>
            </a:pPr>
            <a:r>
              <a:rPr lang="en-US" b="true" sz="3000" spc="150">
                <a:solidFill>
                  <a:srgbClr val="44AB3E"/>
                </a:solidFill>
                <a:latin typeface="Canva Sans Bold"/>
                <a:ea typeface="Canva Sans Bold"/>
                <a:cs typeface="Canva Sans Bold"/>
                <a:sym typeface="Canva Sans Bold"/>
              </a:rPr>
              <a:t>Méthodes classiqu</a:t>
            </a:r>
            <a:r>
              <a:rPr lang="en-US" b="true" sz="3000" spc="150">
                <a:solidFill>
                  <a:srgbClr val="44AB3E"/>
                </a:solidFill>
                <a:latin typeface="Canva Sans Bold"/>
                <a:ea typeface="Canva Sans Bold"/>
                <a:cs typeface="Canva Sans Bold"/>
                <a:sym typeface="Canva Sans Bold"/>
              </a:rPr>
              <a:t>es</a:t>
            </a:r>
          </a:p>
          <a:p>
            <a:pPr algn="ctr">
              <a:lnSpc>
                <a:spcPts val="4200"/>
              </a:lnSpc>
            </a:pPr>
          </a:p>
        </p:txBody>
      </p:sp>
      <p:sp>
        <p:nvSpPr>
          <p:cNvPr name="TextBox 9" id="9"/>
          <p:cNvSpPr txBox="true"/>
          <p:nvPr/>
        </p:nvSpPr>
        <p:spPr>
          <a:xfrm rot="0">
            <a:off x="1222002" y="2954124"/>
            <a:ext cx="3875421" cy="476215"/>
          </a:xfrm>
          <a:prstGeom prst="rect">
            <a:avLst/>
          </a:prstGeom>
        </p:spPr>
        <p:txBody>
          <a:bodyPr anchor="t" rtlCol="false" tIns="0" lIns="0" bIns="0" rIns="0">
            <a:spAutoFit/>
          </a:bodyPr>
          <a:lstStyle/>
          <a:p>
            <a:pPr algn="ctr">
              <a:lnSpc>
                <a:spcPts val="3870"/>
              </a:lnSpc>
              <a:spcBef>
                <a:spcPct val="0"/>
              </a:spcBef>
            </a:pPr>
            <a:r>
              <a:rPr lang="en-US" sz="2764" spc="-38">
                <a:solidFill>
                  <a:srgbClr val="000000"/>
                </a:solidFill>
                <a:latin typeface="Norwester"/>
                <a:ea typeface="Norwester"/>
                <a:cs typeface="Norwester"/>
                <a:sym typeface="Norwester"/>
              </a:rPr>
              <a:t>L</a:t>
            </a:r>
            <a:r>
              <a:rPr lang="en-US" sz="2764" spc="-38">
                <a:solidFill>
                  <a:srgbClr val="000000"/>
                </a:solidFill>
                <a:latin typeface="Norwester"/>
                <a:ea typeface="Norwester"/>
                <a:cs typeface="Norwester"/>
                <a:sym typeface="Norwester"/>
              </a:rPr>
              <a:t>OCAL OUTLIER FACTOR (LOF)</a:t>
            </a:r>
          </a:p>
        </p:txBody>
      </p:sp>
      <p:sp>
        <p:nvSpPr>
          <p:cNvPr name="TextBox 10" id="10"/>
          <p:cNvSpPr txBox="true"/>
          <p:nvPr/>
        </p:nvSpPr>
        <p:spPr>
          <a:xfrm rot="0">
            <a:off x="1222002" y="3697039"/>
            <a:ext cx="15843996" cy="159067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consiste à dét</a:t>
            </a:r>
            <a:r>
              <a:rPr lang="en-US" sz="2999" spc="149">
                <a:solidFill>
                  <a:srgbClr val="000000"/>
                </a:solidFill>
                <a:latin typeface="Telegraf"/>
                <a:ea typeface="Telegraf"/>
                <a:cs typeface="Telegraf"/>
                <a:sym typeface="Telegraf"/>
              </a:rPr>
              <a:t>ecter les anomalies en calculant la densité locale de chaque point par rapport à ses voisins, les observations dont la densité est significativement plus faible que celle de leurs voisins étant considérées comme anormales.</a:t>
            </a:r>
          </a:p>
        </p:txBody>
      </p:sp>
      <p:sp>
        <p:nvSpPr>
          <p:cNvPr name="Freeform 11" id="11"/>
          <p:cNvSpPr/>
          <p:nvPr/>
        </p:nvSpPr>
        <p:spPr>
          <a:xfrm flipH="false" flipV="false" rot="-8410460">
            <a:off x="10362734" y="-4886486"/>
            <a:ext cx="11976399" cy="7170869"/>
          </a:xfrm>
          <a:custGeom>
            <a:avLst/>
            <a:gdLst/>
            <a:ahLst/>
            <a:cxnLst/>
            <a:rect r="r" b="b" t="t" l="l"/>
            <a:pathLst>
              <a:path h="7170869" w="11976399">
                <a:moveTo>
                  <a:pt x="0" y="0"/>
                </a:moveTo>
                <a:lnTo>
                  <a:pt x="11976399" y="0"/>
                </a:lnTo>
                <a:lnTo>
                  <a:pt x="11976399" y="7170869"/>
                </a:lnTo>
                <a:lnTo>
                  <a:pt x="0" y="7170869"/>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96026" y="5454223"/>
            <a:ext cx="8213090" cy="3877045"/>
          </a:xfrm>
          <a:custGeom>
            <a:avLst/>
            <a:gdLst/>
            <a:ahLst/>
            <a:cxnLst/>
            <a:rect r="r" b="b" t="t" l="l"/>
            <a:pathLst>
              <a:path h="3877045" w="8213090">
                <a:moveTo>
                  <a:pt x="0" y="0"/>
                </a:moveTo>
                <a:lnTo>
                  <a:pt x="8213090" y="0"/>
                </a:lnTo>
                <a:lnTo>
                  <a:pt x="8213090" y="3877045"/>
                </a:lnTo>
                <a:lnTo>
                  <a:pt x="0" y="3877045"/>
                </a:lnTo>
                <a:lnTo>
                  <a:pt x="0" y="0"/>
                </a:lnTo>
                <a:close/>
              </a:path>
            </a:pathLst>
          </a:custGeom>
          <a:blipFill>
            <a:blip r:embed="rId2"/>
            <a:stretch>
              <a:fillRect l="0" t="0" r="0" b="-13333"/>
            </a:stretch>
          </a:blipFill>
        </p:spPr>
      </p:sp>
      <p:sp>
        <p:nvSpPr>
          <p:cNvPr name="AutoShape 6" id="6"/>
          <p:cNvSpPr/>
          <p:nvPr/>
        </p:nvSpPr>
        <p:spPr>
          <a:xfrm>
            <a:off x="9109116" y="7392745"/>
            <a:ext cx="2337079" cy="593967"/>
          </a:xfrm>
          <a:prstGeom prst="line">
            <a:avLst/>
          </a:prstGeom>
          <a:ln cap="flat" w="38100">
            <a:solidFill>
              <a:srgbClr val="000000"/>
            </a:solidFill>
            <a:prstDash val="solid"/>
            <a:headEnd type="arrow" len="sm" w="med"/>
            <a:tailEnd type="arrow" len="sm" w="med"/>
          </a:ln>
        </p:spPr>
      </p:sp>
      <p:sp>
        <p:nvSpPr>
          <p:cNvPr name="Freeform 7" id="7"/>
          <p:cNvSpPr/>
          <p:nvPr/>
        </p:nvSpPr>
        <p:spPr>
          <a:xfrm flipH="false" flipV="false" rot="-5469486">
            <a:off x="9490159" y="3078387"/>
            <a:ext cx="1624841" cy="5097542"/>
          </a:xfrm>
          <a:custGeom>
            <a:avLst/>
            <a:gdLst/>
            <a:ahLst/>
            <a:cxnLst/>
            <a:rect r="r" b="b" t="t" l="l"/>
            <a:pathLst>
              <a:path h="5097542" w="1624841">
                <a:moveTo>
                  <a:pt x="0" y="0"/>
                </a:moveTo>
                <a:lnTo>
                  <a:pt x="1624841" y="0"/>
                </a:lnTo>
                <a:lnTo>
                  <a:pt x="1624841" y="5097542"/>
                </a:lnTo>
                <a:lnTo>
                  <a:pt x="0" y="50975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3404418" y="3389755"/>
            <a:ext cx="4187987" cy="2355743"/>
          </a:xfrm>
          <a:custGeom>
            <a:avLst/>
            <a:gdLst/>
            <a:ahLst/>
            <a:cxnLst/>
            <a:rect r="r" b="b" t="t" l="l"/>
            <a:pathLst>
              <a:path h="2355743" w="4187987">
                <a:moveTo>
                  <a:pt x="0" y="0"/>
                </a:moveTo>
                <a:lnTo>
                  <a:pt x="4187987" y="0"/>
                </a:lnTo>
                <a:lnTo>
                  <a:pt x="4187987" y="2355743"/>
                </a:lnTo>
                <a:lnTo>
                  <a:pt x="0" y="2355743"/>
                </a:lnTo>
                <a:lnTo>
                  <a:pt x="0" y="0"/>
                </a:lnTo>
                <a:close/>
              </a:path>
            </a:pathLst>
          </a:custGeom>
          <a:blipFill>
            <a:blip r:embed="rId5"/>
            <a:stretch>
              <a:fillRect l="0" t="0" r="0" b="0"/>
            </a:stretch>
          </a:blipFill>
        </p:spPr>
      </p:sp>
      <p:sp>
        <p:nvSpPr>
          <p:cNvPr name="TextBox 9" id="9"/>
          <p:cNvSpPr txBox="true"/>
          <p:nvPr/>
        </p:nvSpPr>
        <p:spPr>
          <a:xfrm rot="0">
            <a:off x="6055273" y="571242"/>
            <a:ext cx="6177454" cy="1086366"/>
          </a:xfrm>
          <a:prstGeom prst="rect">
            <a:avLst/>
          </a:prstGeom>
        </p:spPr>
        <p:txBody>
          <a:bodyPr anchor="t" rtlCol="false" tIns="0" lIns="0" bIns="0" rIns="0">
            <a:spAutoFit/>
          </a:bodyPr>
          <a:lstStyle/>
          <a:p>
            <a:pPr algn="l">
              <a:lnSpc>
                <a:spcPts val="8038"/>
              </a:lnSpc>
            </a:pPr>
            <a:r>
              <a:rPr lang="en-US" sz="8287" spc="-116">
                <a:solidFill>
                  <a:srgbClr val="004AAD"/>
                </a:solidFill>
                <a:latin typeface="Norwester"/>
                <a:ea typeface="Norwester"/>
                <a:cs typeface="Norwester"/>
                <a:sym typeface="Norwester"/>
              </a:rPr>
              <a:t>METHODOLOGIE </a:t>
            </a:r>
          </a:p>
        </p:txBody>
      </p:sp>
      <p:sp>
        <p:nvSpPr>
          <p:cNvPr name="TextBox 10" id="10"/>
          <p:cNvSpPr txBox="true"/>
          <p:nvPr/>
        </p:nvSpPr>
        <p:spPr>
          <a:xfrm rot="0">
            <a:off x="6772037" y="2130609"/>
            <a:ext cx="4674158" cy="1749425"/>
          </a:xfrm>
          <a:prstGeom prst="rect">
            <a:avLst/>
          </a:prstGeom>
        </p:spPr>
        <p:txBody>
          <a:bodyPr anchor="t" rtlCol="false" tIns="0" lIns="0" bIns="0" rIns="0">
            <a:spAutoFit/>
          </a:bodyPr>
          <a:lstStyle/>
          <a:p>
            <a:pPr algn="ctr">
              <a:lnSpc>
                <a:spcPts val="7000"/>
              </a:lnSpc>
            </a:pPr>
            <a:r>
              <a:rPr lang="en-US" b="true" sz="5000" spc="250">
                <a:solidFill>
                  <a:srgbClr val="44AB3E"/>
                </a:solidFill>
                <a:latin typeface="Canva Sans Bold"/>
                <a:ea typeface="Canva Sans Bold"/>
                <a:cs typeface="Canva Sans Bold"/>
                <a:sym typeface="Canva Sans Bold"/>
              </a:rPr>
              <a:t>Deployement </a:t>
            </a:r>
          </a:p>
          <a:p>
            <a:pPr algn="ctr">
              <a:lnSpc>
                <a:spcPts val="7000"/>
              </a:lnSpc>
            </a:pPr>
          </a:p>
        </p:txBody>
      </p:sp>
      <p:sp>
        <p:nvSpPr>
          <p:cNvPr name="TextBox 11" id="11"/>
          <p:cNvSpPr txBox="true"/>
          <p:nvPr/>
        </p:nvSpPr>
        <p:spPr>
          <a:xfrm rot="0">
            <a:off x="896026" y="4185856"/>
            <a:ext cx="2164556" cy="687342"/>
          </a:xfrm>
          <a:prstGeom prst="rect">
            <a:avLst/>
          </a:prstGeom>
        </p:spPr>
        <p:txBody>
          <a:bodyPr anchor="t" rtlCol="false" tIns="0" lIns="0" bIns="0" rIns="0">
            <a:spAutoFit/>
          </a:bodyPr>
          <a:lstStyle/>
          <a:p>
            <a:pPr algn="ctr">
              <a:lnSpc>
                <a:spcPts val="5690"/>
              </a:lnSpc>
              <a:spcBef>
                <a:spcPct val="0"/>
              </a:spcBef>
            </a:pPr>
            <a:r>
              <a:rPr lang="en-US" sz="4064" spc="-56">
                <a:solidFill>
                  <a:srgbClr val="000000"/>
                </a:solidFill>
                <a:latin typeface="Norwester"/>
                <a:ea typeface="Norwester"/>
                <a:cs typeface="Norwester"/>
                <a:sym typeface="Norwester"/>
              </a:rPr>
              <a:t>STREAMLIT</a:t>
            </a:r>
          </a:p>
        </p:txBody>
      </p:sp>
      <p:sp>
        <p:nvSpPr>
          <p:cNvPr name="TextBox 12" id="12"/>
          <p:cNvSpPr txBox="true"/>
          <p:nvPr/>
        </p:nvSpPr>
        <p:spPr>
          <a:xfrm rot="0">
            <a:off x="11446195" y="6619874"/>
            <a:ext cx="6146211" cy="2638426"/>
          </a:xfrm>
          <a:prstGeom prst="rect">
            <a:avLst/>
          </a:prstGeom>
        </p:spPr>
        <p:txBody>
          <a:bodyPr anchor="t" rtlCol="false" tIns="0" lIns="0" bIns="0" rIns="0">
            <a:spAutoFit/>
          </a:bodyPr>
          <a:lstStyle/>
          <a:p>
            <a:pPr algn="just">
              <a:lnSpc>
                <a:spcPts val="4199"/>
              </a:lnSpc>
              <a:spcBef>
                <a:spcPct val="0"/>
              </a:spcBef>
            </a:pPr>
            <a:r>
              <a:rPr lang="en-US" sz="2999" spc="149">
                <a:solidFill>
                  <a:srgbClr val="000000"/>
                </a:solidFill>
                <a:latin typeface="Telegraf"/>
                <a:ea typeface="Telegraf"/>
                <a:cs typeface="Telegraf"/>
                <a:sym typeface="Telegraf"/>
              </a:rPr>
              <a:t>framework Pytho</a:t>
            </a:r>
            <a:r>
              <a:rPr lang="en-US" sz="2999" spc="149">
                <a:solidFill>
                  <a:srgbClr val="000000"/>
                </a:solidFill>
                <a:latin typeface="Telegraf"/>
                <a:ea typeface="Telegraf"/>
                <a:cs typeface="Telegraf"/>
                <a:sym typeface="Telegraf"/>
              </a:rPr>
              <a:t>n léger pour créer rapidement des apps web interactives, avec widgets, visualisations et rechargement automatique, sans front-end.</a:t>
            </a:r>
          </a:p>
        </p:txBody>
      </p:sp>
      <p:sp>
        <p:nvSpPr>
          <p:cNvPr name="Freeform 13" id="13"/>
          <p:cNvSpPr/>
          <p:nvPr/>
        </p:nvSpPr>
        <p:spPr>
          <a:xfrm flipH="false" flipV="false" rot="-8410460">
            <a:off x="-6644785" y="-4547043"/>
            <a:ext cx="11976399" cy="7170869"/>
          </a:xfrm>
          <a:custGeom>
            <a:avLst/>
            <a:gdLst/>
            <a:ahLst/>
            <a:cxnLst/>
            <a:rect r="r" b="b" t="t" l="l"/>
            <a:pathLst>
              <a:path h="7170869" w="11976399">
                <a:moveTo>
                  <a:pt x="0" y="0"/>
                </a:moveTo>
                <a:lnTo>
                  <a:pt x="11976399" y="0"/>
                </a:lnTo>
                <a:lnTo>
                  <a:pt x="11976399" y="7170869"/>
                </a:lnTo>
                <a:lnTo>
                  <a:pt x="0" y="7170869"/>
                </a:lnTo>
                <a:lnTo>
                  <a:pt x="0" y="0"/>
                </a:lnTo>
                <a:close/>
              </a:path>
            </a:pathLst>
          </a:custGeom>
          <a:blipFill>
            <a:blip r:embed="rId6"/>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3515" y="2626687"/>
            <a:ext cx="6867333" cy="3090300"/>
          </a:xfrm>
          <a:custGeom>
            <a:avLst/>
            <a:gdLst/>
            <a:ahLst/>
            <a:cxnLst/>
            <a:rect r="r" b="b" t="t" l="l"/>
            <a:pathLst>
              <a:path h="3090300" w="6867333">
                <a:moveTo>
                  <a:pt x="0" y="0"/>
                </a:moveTo>
                <a:lnTo>
                  <a:pt x="6867334" y="0"/>
                </a:lnTo>
                <a:lnTo>
                  <a:pt x="6867334" y="3090300"/>
                </a:lnTo>
                <a:lnTo>
                  <a:pt x="0" y="3090300"/>
                </a:lnTo>
                <a:lnTo>
                  <a:pt x="0" y="0"/>
                </a:lnTo>
                <a:close/>
              </a:path>
            </a:pathLst>
          </a:custGeom>
          <a:blipFill>
            <a:blip r:embed="rId2"/>
            <a:stretch>
              <a:fillRect l="0" t="0" r="0" b="0"/>
            </a:stretch>
          </a:blipFill>
        </p:spPr>
      </p:sp>
      <p:sp>
        <p:nvSpPr>
          <p:cNvPr name="Freeform 3" id="3"/>
          <p:cNvSpPr/>
          <p:nvPr/>
        </p:nvSpPr>
        <p:spPr>
          <a:xfrm flipH="false" flipV="false" rot="0">
            <a:off x="10619428" y="2626687"/>
            <a:ext cx="6886462" cy="3090300"/>
          </a:xfrm>
          <a:custGeom>
            <a:avLst/>
            <a:gdLst/>
            <a:ahLst/>
            <a:cxnLst/>
            <a:rect r="r" b="b" t="t" l="l"/>
            <a:pathLst>
              <a:path h="3090300" w="6886462">
                <a:moveTo>
                  <a:pt x="0" y="0"/>
                </a:moveTo>
                <a:lnTo>
                  <a:pt x="6886462" y="0"/>
                </a:lnTo>
                <a:lnTo>
                  <a:pt x="6886462" y="3090300"/>
                </a:lnTo>
                <a:lnTo>
                  <a:pt x="0" y="3090300"/>
                </a:lnTo>
                <a:lnTo>
                  <a:pt x="0" y="0"/>
                </a:lnTo>
                <a:close/>
              </a:path>
            </a:pathLst>
          </a:custGeom>
          <a:blipFill>
            <a:blip r:embed="rId3"/>
            <a:stretch>
              <a:fillRect l="0" t="0" r="0" b="0"/>
            </a:stretch>
          </a:blipFill>
        </p:spPr>
      </p:sp>
      <p:sp>
        <p:nvSpPr>
          <p:cNvPr name="Freeform 4" id="4"/>
          <p:cNvSpPr/>
          <p:nvPr/>
        </p:nvSpPr>
        <p:spPr>
          <a:xfrm flipH="false" flipV="false" rot="0">
            <a:off x="583515" y="6541441"/>
            <a:ext cx="6867333" cy="3390746"/>
          </a:xfrm>
          <a:custGeom>
            <a:avLst/>
            <a:gdLst/>
            <a:ahLst/>
            <a:cxnLst/>
            <a:rect r="r" b="b" t="t" l="l"/>
            <a:pathLst>
              <a:path h="3390746" w="6867333">
                <a:moveTo>
                  <a:pt x="0" y="0"/>
                </a:moveTo>
                <a:lnTo>
                  <a:pt x="6867334" y="0"/>
                </a:lnTo>
                <a:lnTo>
                  <a:pt x="6867334" y="3390746"/>
                </a:lnTo>
                <a:lnTo>
                  <a:pt x="0" y="3390746"/>
                </a:lnTo>
                <a:lnTo>
                  <a:pt x="0" y="0"/>
                </a:lnTo>
                <a:close/>
              </a:path>
            </a:pathLst>
          </a:custGeom>
          <a:blipFill>
            <a:blip r:embed="rId4"/>
            <a:stretch>
              <a:fillRect l="0" t="0" r="0" b="0"/>
            </a:stretch>
          </a:blipFill>
        </p:spPr>
      </p:sp>
      <p:sp>
        <p:nvSpPr>
          <p:cNvPr name="Freeform 5" id="5"/>
          <p:cNvSpPr/>
          <p:nvPr/>
        </p:nvSpPr>
        <p:spPr>
          <a:xfrm flipH="false" flipV="false" rot="0">
            <a:off x="10655899" y="6541441"/>
            <a:ext cx="6849992" cy="3390746"/>
          </a:xfrm>
          <a:custGeom>
            <a:avLst/>
            <a:gdLst/>
            <a:ahLst/>
            <a:cxnLst/>
            <a:rect r="r" b="b" t="t" l="l"/>
            <a:pathLst>
              <a:path h="3390746" w="6849992">
                <a:moveTo>
                  <a:pt x="0" y="0"/>
                </a:moveTo>
                <a:lnTo>
                  <a:pt x="6849991" y="0"/>
                </a:lnTo>
                <a:lnTo>
                  <a:pt x="6849991" y="3390746"/>
                </a:lnTo>
                <a:lnTo>
                  <a:pt x="0" y="3390746"/>
                </a:lnTo>
                <a:lnTo>
                  <a:pt x="0" y="0"/>
                </a:lnTo>
                <a:close/>
              </a:path>
            </a:pathLst>
          </a:custGeom>
          <a:blipFill>
            <a:blip r:embed="rId5"/>
            <a:stretch>
              <a:fillRect l="0" t="0" r="0" b="0"/>
            </a:stretch>
          </a:blipFill>
        </p:spPr>
      </p:sp>
      <p:sp>
        <p:nvSpPr>
          <p:cNvPr name="TextBox 6" id="6"/>
          <p:cNvSpPr txBox="true"/>
          <p:nvPr/>
        </p:nvSpPr>
        <p:spPr>
          <a:xfrm rot="0">
            <a:off x="3745557" y="642996"/>
            <a:ext cx="10796885" cy="923808"/>
          </a:xfrm>
          <a:prstGeom prst="rect">
            <a:avLst/>
          </a:prstGeom>
        </p:spPr>
        <p:txBody>
          <a:bodyPr anchor="t" rtlCol="false" tIns="0" lIns="0" bIns="0" rIns="0">
            <a:spAutoFit/>
          </a:bodyPr>
          <a:lstStyle/>
          <a:p>
            <a:pPr algn="l">
              <a:lnSpc>
                <a:spcPts val="6878"/>
              </a:lnSpc>
            </a:pPr>
            <a:r>
              <a:rPr lang="en-US" sz="7090" spc="-99">
                <a:solidFill>
                  <a:srgbClr val="004AAD"/>
                </a:solidFill>
                <a:latin typeface="Norwester"/>
                <a:ea typeface="Norwester"/>
                <a:cs typeface="Norwester"/>
                <a:sym typeface="Norwester"/>
              </a:rPr>
              <a:t>MODELISATION ET APPLICATION</a:t>
            </a:r>
          </a:p>
        </p:txBody>
      </p:sp>
      <p:sp>
        <p:nvSpPr>
          <p:cNvPr name="Freeform 7" id="7"/>
          <p:cNvSpPr/>
          <p:nvPr/>
        </p:nvSpPr>
        <p:spPr>
          <a:xfrm flipH="false" flipV="false" rot="-8410460">
            <a:off x="11134168" y="-4840661"/>
            <a:ext cx="11093303" cy="6642115"/>
          </a:xfrm>
          <a:custGeom>
            <a:avLst/>
            <a:gdLst/>
            <a:ahLst/>
            <a:cxnLst/>
            <a:rect r="r" b="b" t="t" l="l"/>
            <a:pathLst>
              <a:path h="6642115" w="11093303">
                <a:moveTo>
                  <a:pt x="0" y="0"/>
                </a:moveTo>
                <a:lnTo>
                  <a:pt x="11093303" y="0"/>
                </a:lnTo>
                <a:lnTo>
                  <a:pt x="11093303" y="6642116"/>
                </a:lnTo>
                <a:lnTo>
                  <a:pt x="0" y="6642116"/>
                </a:lnTo>
                <a:lnTo>
                  <a:pt x="0" y="0"/>
                </a:lnTo>
                <a:close/>
              </a:path>
            </a:pathLst>
          </a:custGeom>
          <a:blipFill>
            <a:blip r:embed="rId6"/>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FFFFFF"/>
            </a:solidFill>
            <a:ln w="47625" cap="sq">
              <a:solidFill>
                <a:srgbClr val="004AAD"/>
              </a:solidFill>
              <a:prstDash val="solid"/>
              <a:miter/>
            </a:ln>
          </p:spPr>
        </p:sp>
        <p:sp>
          <p:nvSpPr>
            <p:cNvPr name="TextBox 4" id="4"/>
            <p:cNvSpPr txBox="true"/>
            <p:nvPr/>
          </p:nvSpPr>
          <p:spPr>
            <a:xfrm>
              <a:off x="0" y="-38100"/>
              <a:ext cx="4816593"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6103886" y="487183"/>
            <a:ext cx="6080227" cy="1302109"/>
          </a:xfrm>
          <a:prstGeom prst="rect">
            <a:avLst/>
          </a:prstGeom>
        </p:spPr>
        <p:txBody>
          <a:bodyPr anchor="t" rtlCol="false" tIns="0" lIns="0" bIns="0" rIns="0">
            <a:spAutoFit/>
          </a:bodyPr>
          <a:lstStyle/>
          <a:p>
            <a:pPr algn="l">
              <a:lnSpc>
                <a:spcPts val="9711"/>
              </a:lnSpc>
            </a:pPr>
            <a:r>
              <a:rPr lang="en-US" sz="10012" spc="-140">
                <a:solidFill>
                  <a:srgbClr val="004AAD"/>
                </a:solidFill>
                <a:latin typeface="Norwester"/>
                <a:ea typeface="Norwester"/>
                <a:cs typeface="Norwester"/>
                <a:sym typeface="Norwester"/>
              </a:rPr>
              <a:t>CONCLUSION</a:t>
            </a:r>
          </a:p>
        </p:txBody>
      </p:sp>
      <p:sp>
        <p:nvSpPr>
          <p:cNvPr name="TextBox 6" id="6"/>
          <p:cNvSpPr txBox="true"/>
          <p:nvPr/>
        </p:nvSpPr>
        <p:spPr>
          <a:xfrm rot="0">
            <a:off x="3189428" y="3864290"/>
            <a:ext cx="11909145" cy="4052021"/>
          </a:xfrm>
          <a:prstGeom prst="rect">
            <a:avLst/>
          </a:prstGeom>
        </p:spPr>
        <p:txBody>
          <a:bodyPr anchor="t" rtlCol="false" tIns="0" lIns="0" bIns="0" rIns="0">
            <a:spAutoFit/>
          </a:bodyPr>
          <a:lstStyle/>
          <a:p>
            <a:pPr algn="ctr">
              <a:lnSpc>
                <a:spcPts val="6550"/>
              </a:lnSpc>
            </a:pPr>
            <a:r>
              <a:rPr lang="en-US" b="true" sz="3046" spc="-42">
                <a:solidFill>
                  <a:srgbClr val="5E17EB"/>
                </a:solidFill>
                <a:latin typeface="Garet Bold"/>
                <a:ea typeface="Garet Bold"/>
                <a:cs typeface="Garet Bold"/>
                <a:sym typeface="Garet Bold"/>
              </a:rPr>
              <a:t>CES OUTILS ET MÉTHODES PERMETTENT DE COMPRENDRE, ANALYSER ET SÉCURISER LES DONNÉES EFFICACEMENT, TOUT EN FACILITANT LA CRÉATION D’APPLICATIONS INTERACTIVES ET LA DÉTECTION D’ANOMALIES POUR DES PRISES DE DÉCISION ÉCLAIRÉES.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DAG8_4KGbA0</dc:identifier>
  <dcterms:modified xsi:type="dcterms:W3CDTF">2011-08-01T06:04:30Z</dcterms:modified>
  <cp:revision>1</cp:revision>
  <dc:title>Projet_14_Machine_Learning</dc:title>
</cp:coreProperties>
</file>